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262" r:id="rId3"/>
    <p:sldId id="707" r:id="rId4"/>
    <p:sldId id="257" r:id="rId5"/>
    <p:sldId id="903" r:id="rId6"/>
    <p:sldId id="904" r:id="rId7"/>
    <p:sldId id="902" r:id="rId8"/>
    <p:sldId id="905" r:id="rId9"/>
    <p:sldId id="258" r:id="rId10"/>
    <p:sldId id="909" r:id="rId11"/>
    <p:sldId id="259" r:id="rId12"/>
    <p:sldId id="906" r:id="rId13"/>
    <p:sldId id="907" r:id="rId14"/>
    <p:sldId id="908" r:id="rId15"/>
    <p:sldId id="260" r:id="rId16"/>
    <p:sldId id="910" r:id="rId17"/>
    <p:sldId id="91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2E07C8-5E04-443A-976C-7ED8A0394C47}" type="doc">
      <dgm:prSet loTypeId="urn:microsoft.com/office/officeart/2005/8/layout/process5" loCatId="process" qsTypeId="urn:microsoft.com/office/officeart/2005/8/quickstyle/simple1#1" qsCatId="simple" csTypeId="urn:microsoft.com/office/officeart/2005/8/colors/colorful4#1" csCatId="colorful" phldr="1"/>
      <dgm:spPr/>
      <dgm:t>
        <a:bodyPr/>
        <a:lstStyle/>
        <a:p>
          <a:endParaRPr lang="en-IN"/>
        </a:p>
      </dgm:t>
    </dgm:pt>
    <dgm:pt modelId="{BBF6BD7A-433A-451E-8C9A-A10B1F4A4B18}">
      <dgm:prSet phldrT="[Text]"/>
      <dgm:spPr/>
      <dgm:t>
        <a:bodyPr/>
        <a:lstStyle/>
        <a:p>
          <a:pPr>
            <a:buNone/>
          </a:pPr>
          <a:r>
            <a:rPr lang="en-IN" dirty="0"/>
            <a:t>Introduction</a:t>
          </a:r>
        </a:p>
      </dgm:t>
    </dgm:pt>
    <dgm:pt modelId="{6AD0C126-0BDB-4AAC-8B74-25D3853DB42E}" type="parTrans" cxnId="{35226B2E-AA5B-4157-84CF-C04860210582}">
      <dgm:prSet/>
      <dgm:spPr/>
      <dgm:t>
        <a:bodyPr/>
        <a:lstStyle/>
        <a:p>
          <a:endParaRPr lang="en-IN"/>
        </a:p>
      </dgm:t>
    </dgm:pt>
    <dgm:pt modelId="{3C3C9D4B-9914-4F95-9756-4CB9D759C199}" type="sibTrans" cxnId="{35226B2E-AA5B-4157-84CF-C04860210582}">
      <dgm:prSet/>
      <dgm:spPr/>
      <dgm:t>
        <a:bodyPr/>
        <a:lstStyle/>
        <a:p>
          <a:endParaRPr lang="en-IN"/>
        </a:p>
      </dgm:t>
    </dgm:pt>
    <dgm:pt modelId="{0C0D5B35-3ADF-4C44-A7B4-BC3A61AE6591}">
      <dgm:prSet phldrT="[Text]"/>
      <dgm:spPr/>
      <dgm:t>
        <a:bodyPr/>
        <a:lstStyle/>
        <a:p>
          <a:pPr>
            <a:buNone/>
          </a:pPr>
          <a:r>
            <a:rPr lang="en-IN"/>
            <a:t>Problem Statement &amp; Objectives</a:t>
          </a:r>
          <a:endParaRPr lang="en-IN" dirty="0"/>
        </a:p>
      </dgm:t>
    </dgm:pt>
    <dgm:pt modelId="{6B465470-099D-44E2-8E0B-80E647EEFB47}" type="parTrans" cxnId="{3F78A242-5EA0-4DF7-90BE-26F567A2A33C}">
      <dgm:prSet/>
      <dgm:spPr/>
      <dgm:t>
        <a:bodyPr/>
        <a:lstStyle/>
        <a:p>
          <a:endParaRPr lang="en-IN"/>
        </a:p>
      </dgm:t>
    </dgm:pt>
    <dgm:pt modelId="{904927FA-29EC-4EE9-9656-BA77BB9570E4}" type="sibTrans" cxnId="{3F78A242-5EA0-4DF7-90BE-26F567A2A33C}">
      <dgm:prSet/>
      <dgm:spPr/>
      <dgm:t>
        <a:bodyPr/>
        <a:lstStyle/>
        <a:p>
          <a:endParaRPr lang="en-IN"/>
        </a:p>
      </dgm:t>
    </dgm:pt>
    <dgm:pt modelId="{8A414BBF-DD20-45ED-B6DC-710AD38AC286}">
      <dgm:prSet phldrT="[Text]"/>
      <dgm:spPr/>
      <dgm:t>
        <a:bodyPr/>
        <a:lstStyle/>
        <a:p>
          <a:pPr>
            <a:buNone/>
          </a:pPr>
          <a:r>
            <a:rPr lang="en-IN"/>
            <a:t>Literature Survey &amp; Research Gap</a:t>
          </a:r>
          <a:endParaRPr lang="en-IN" dirty="0"/>
        </a:p>
      </dgm:t>
    </dgm:pt>
    <dgm:pt modelId="{BAEBB57A-88A9-402E-B1CF-859D32255099}" type="parTrans" cxnId="{EA638BAB-3182-46C4-82ED-C6940DB769E3}">
      <dgm:prSet/>
      <dgm:spPr/>
      <dgm:t>
        <a:bodyPr/>
        <a:lstStyle/>
        <a:p>
          <a:endParaRPr lang="en-IN"/>
        </a:p>
      </dgm:t>
    </dgm:pt>
    <dgm:pt modelId="{C585F71F-4CFF-4460-8D0A-6339A9C98378}" type="sibTrans" cxnId="{EA638BAB-3182-46C4-82ED-C6940DB769E3}">
      <dgm:prSet/>
      <dgm:spPr/>
      <dgm:t>
        <a:bodyPr/>
        <a:lstStyle/>
        <a:p>
          <a:endParaRPr lang="en-IN"/>
        </a:p>
      </dgm:t>
    </dgm:pt>
    <dgm:pt modelId="{7D7F7110-B7A6-4482-B0FC-7840E0F87DB0}">
      <dgm:prSet phldrT="[Text]"/>
      <dgm:spPr/>
      <dgm:t>
        <a:bodyPr/>
        <a:lstStyle/>
        <a:p>
          <a:pPr>
            <a:buNone/>
          </a:pPr>
          <a:r>
            <a:rPr lang="en-IN" dirty="0"/>
            <a:t>Proposed System &amp; Architecture</a:t>
          </a:r>
        </a:p>
      </dgm:t>
    </dgm:pt>
    <dgm:pt modelId="{7700CD36-E95F-4AB2-986B-A8E743048638}" type="parTrans" cxnId="{65FC0D33-D04A-427A-90E7-7369DE05EA84}">
      <dgm:prSet/>
      <dgm:spPr/>
      <dgm:t>
        <a:bodyPr/>
        <a:lstStyle/>
        <a:p>
          <a:endParaRPr lang="en-IN"/>
        </a:p>
      </dgm:t>
    </dgm:pt>
    <dgm:pt modelId="{997A00B2-45B5-43C2-92E2-DC6FFCFAB024}" type="sibTrans" cxnId="{65FC0D33-D04A-427A-90E7-7369DE05EA84}">
      <dgm:prSet/>
      <dgm:spPr/>
      <dgm:t>
        <a:bodyPr/>
        <a:lstStyle/>
        <a:p>
          <a:endParaRPr lang="en-IN"/>
        </a:p>
      </dgm:t>
    </dgm:pt>
    <dgm:pt modelId="{9F100091-6FF3-422A-B507-90F1FEF017E0}">
      <dgm:prSet phldrT="[Text]"/>
      <dgm:spPr/>
      <dgm:t>
        <a:bodyPr/>
        <a:lstStyle/>
        <a:p>
          <a:pPr>
            <a:buNone/>
          </a:pPr>
          <a:r>
            <a:rPr lang="en-IN" dirty="0"/>
            <a:t>Innovation, Feasibility &amp; Project Plan</a:t>
          </a:r>
        </a:p>
      </dgm:t>
    </dgm:pt>
    <dgm:pt modelId="{B60E8FE3-34A0-4C4E-8AA3-BE19EED66B5F}" type="parTrans" cxnId="{328963DB-E6AA-409B-AFB9-DC25CE4B3C06}">
      <dgm:prSet/>
      <dgm:spPr/>
      <dgm:t>
        <a:bodyPr/>
        <a:lstStyle/>
        <a:p>
          <a:endParaRPr lang="en-IN"/>
        </a:p>
      </dgm:t>
    </dgm:pt>
    <dgm:pt modelId="{E6759F19-55F2-4FB8-919B-20CC6DF04739}" type="sibTrans" cxnId="{328963DB-E6AA-409B-AFB9-DC25CE4B3C06}">
      <dgm:prSet/>
      <dgm:spPr/>
      <dgm:t>
        <a:bodyPr/>
        <a:lstStyle/>
        <a:p>
          <a:endParaRPr lang="en-IN"/>
        </a:p>
      </dgm:t>
    </dgm:pt>
    <dgm:pt modelId="{6D9CB8A6-788A-4385-898D-4B016AE9795B}">
      <dgm:prSet phldrT="[Text]"/>
      <dgm:spPr/>
      <dgm:t>
        <a:bodyPr/>
        <a:lstStyle/>
        <a:p>
          <a:pPr>
            <a:buNone/>
          </a:pPr>
          <a:r>
            <a:rPr lang="en-IN" dirty="0"/>
            <a:t>Expected Outcomes &amp; Future Work</a:t>
          </a:r>
        </a:p>
      </dgm:t>
    </dgm:pt>
    <dgm:pt modelId="{7AF97291-9FF3-43EB-95C0-0177115AB9DB}" type="parTrans" cxnId="{22EAD537-E33E-4C0B-A7F7-F22608F4C4B6}">
      <dgm:prSet/>
      <dgm:spPr/>
      <dgm:t>
        <a:bodyPr/>
        <a:lstStyle/>
        <a:p>
          <a:endParaRPr lang="en-IN"/>
        </a:p>
      </dgm:t>
    </dgm:pt>
    <dgm:pt modelId="{C14F003E-AFC3-4DF5-9B9A-D24B4D8F8B11}" type="sibTrans" cxnId="{22EAD537-E33E-4C0B-A7F7-F22608F4C4B6}">
      <dgm:prSet/>
      <dgm:spPr/>
      <dgm:t>
        <a:bodyPr/>
        <a:lstStyle/>
        <a:p>
          <a:endParaRPr lang="en-IN"/>
        </a:p>
      </dgm:t>
    </dgm:pt>
    <dgm:pt modelId="{240E0451-065A-420B-B6C2-AC86DDBFBF7A}" type="pres">
      <dgm:prSet presAssocID="{0A2E07C8-5E04-443A-976C-7ED8A0394C47}" presName="diagram" presStyleCnt="0">
        <dgm:presLayoutVars>
          <dgm:dir/>
          <dgm:resizeHandles val="exact"/>
        </dgm:presLayoutVars>
      </dgm:prSet>
      <dgm:spPr/>
    </dgm:pt>
    <dgm:pt modelId="{BA0C8716-5105-4F1C-A061-E5B410E3E4D6}" type="pres">
      <dgm:prSet presAssocID="{BBF6BD7A-433A-451E-8C9A-A10B1F4A4B18}" presName="node" presStyleLbl="node1" presStyleIdx="0" presStyleCnt="6">
        <dgm:presLayoutVars>
          <dgm:bulletEnabled val="1"/>
        </dgm:presLayoutVars>
      </dgm:prSet>
      <dgm:spPr/>
    </dgm:pt>
    <dgm:pt modelId="{7428F96D-FCD1-4E4C-9873-7B24C484E518}" type="pres">
      <dgm:prSet presAssocID="{3C3C9D4B-9914-4F95-9756-4CB9D759C199}" presName="sibTrans" presStyleLbl="sibTrans2D1" presStyleIdx="0" presStyleCnt="5"/>
      <dgm:spPr/>
    </dgm:pt>
    <dgm:pt modelId="{74546C8E-12EC-4355-AE71-F445AFC6DC43}" type="pres">
      <dgm:prSet presAssocID="{3C3C9D4B-9914-4F95-9756-4CB9D759C199}" presName="connectorText" presStyleLbl="sibTrans2D1" presStyleIdx="0" presStyleCnt="5"/>
      <dgm:spPr/>
    </dgm:pt>
    <dgm:pt modelId="{4BE8E94F-4FE0-4507-80EB-8ADF06E8CC53}" type="pres">
      <dgm:prSet presAssocID="{0C0D5B35-3ADF-4C44-A7B4-BC3A61AE6591}" presName="node" presStyleLbl="node1" presStyleIdx="1" presStyleCnt="6">
        <dgm:presLayoutVars>
          <dgm:bulletEnabled val="1"/>
        </dgm:presLayoutVars>
      </dgm:prSet>
      <dgm:spPr/>
    </dgm:pt>
    <dgm:pt modelId="{0E660BFF-0B65-4144-A0F0-89DB2FA0D5A3}" type="pres">
      <dgm:prSet presAssocID="{904927FA-29EC-4EE9-9656-BA77BB9570E4}" presName="sibTrans" presStyleLbl="sibTrans2D1" presStyleIdx="1" presStyleCnt="5"/>
      <dgm:spPr/>
    </dgm:pt>
    <dgm:pt modelId="{71F7725C-3DFE-4873-8F9E-03BB615237E3}" type="pres">
      <dgm:prSet presAssocID="{904927FA-29EC-4EE9-9656-BA77BB9570E4}" presName="connectorText" presStyleLbl="sibTrans2D1" presStyleIdx="1" presStyleCnt="5"/>
      <dgm:spPr/>
    </dgm:pt>
    <dgm:pt modelId="{96A63B54-FAE5-48CA-B6D6-05B3F9213471}" type="pres">
      <dgm:prSet presAssocID="{8A414BBF-DD20-45ED-B6DC-710AD38AC286}" presName="node" presStyleLbl="node1" presStyleIdx="2" presStyleCnt="6">
        <dgm:presLayoutVars>
          <dgm:bulletEnabled val="1"/>
        </dgm:presLayoutVars>
      </dgm:prSet>
      <dgm:spPr/>
    </dgm:pt>
    <dgm:pt modelId="{661482CF-C96C-4168-82F1-BEF5D08DBB11}" type="pres">
      <dgm:prSet presAssocID="{C585F71F-4CFF-4460-8D0A-6339A9C98378}" presName="sibTrans" presStyleLbl="sibTrans2D1" presStyleIdx="2" presStyleCnt="5"/>
      <dgm:spPr/>
    </dgm:pt>
    <dgm:pt modelId="{D83DFC14-7D31-4902-BDC0-55E77650CDD8}" type="pres">
      <dgm:prSet presAssocID="{C585F71F-4CFF-4460-8D0A-6339A9C98378}" presName="connectorText" presStyleLbl="sibTrans2D1" presStyleIdx="2" presStyleCnt="5"/>
      <dgm:spPr/>
    </dgm:pt>
    <dgm:pt modelId="{7307DC74-C3CF-4661-BC23-3C5990313BF3}" type="pres">
      <dgm:prSet presAssocID="{7D7F7110-B7A6-4482-B0FC-7840E0F87DB0}" presName="node" presStyleLbl="node1" presStyleIdx="3" presStyleCnt="6">
        <dgm:presLayoutVars>
          <dgm:bulletEnabled val="1"/>
        </dgm:presLayoutVars>
      </dgm:prSet>
      <dgm:spPr/>
    </dgm:pt>
    <dgm:pt modelId="{7A337759-38B7-4065-B1C3-48AE5A2E3AE8}" type="pres">
      <dgm:prSet presAssocID="{997A00B2-45B5-43C2-92E2-DC6FFCFAB024}" presName="sibTrans" presStyleLbl="sibTrans2D1" presStyleIdx="3" presStyleCnt="5"/>
      <dgm:spPr/>
    </dgm:pt>
    <dgm:pt modelId="{3F0B2E39-B423-42B7-8E3B-B3E35134DA10}" type="pres">
      <dgm:prSet presAssocID="{997A00B2-45B5-43C2-92E2-DC6FFCFAB024}" presName="connectorText" presStyleLbl="sibTrans2D1" presStyleIdx="3" presStyleCnt="5"/>
      <dgm:spPr/>
    </dgm:pt>
    <dgm:pt modelId="{654A228D-A9E4-45D1-A47C-6B9D2B7E3D34}" type="pres">
      <dgm:prSet presAssocID="{9F100091-6FF3-422A-B507-90F1FEF017E0}" presName="node" presStyleLbl="node1" presStyleIdx="4" presStyleCnt="6">
        <dgm:presLayoutVars>
          <dgm:bulletEnabled val="1"/>
        </dgm:presLayoutVars>
      </dgm:prSet>
      <dgm:spPr/>
    </dgm:pt>
    <dgm:pt modelId="{1E37D163-174D-47D5-9527-857074B33595}" type="pres">
      <dgm:prSet presAssocID="{E6759F19-55F2-4FB8-919B-20CC6DF04739}" presName="sibTrans" presStyleLbl="sibTrans2D1" presStyleIdx="4" presStyleCnt="5"/>
      <dgm:spPr/>
    </dgm:pt>
    <dgm:pt modelId="{112FC624-A9E3-47BC-830E-CB7DC62237E3}" type="pres">
      <dgm:prSet presAssocID="{E6759F19-55F2-4FB8-919B-20CC6DF04739}" presName="connectorText" presStyleLbl="sibTrans2D1" presStyleIdx="4" presStyleCnt="5"/>
      <dgm:spPr/>
    </dgm:pt>
    <dgm:pt modelId="{0DBCD464-773F-42A8-9AD0-51D0E8FEE87A}" type="pres">
      <dgm:prSet presAssocID="{6D9CB8A6-788A-4385-898D-4B016AE9795B}" presName="node" presStyleLbl="node1" presStyleIdx="5" presStyleCnt="6">
        <dgm:presLayoutVars>
          <dgm:bulletEnabled val="1"/>
        </dgm:presLayoutVars>
      </dgm:prSet>
      <dgm:spPr/>
    </dgm:pt>
  </dgm:ptLst>
  <dgm:cxnLst>
    <dgm:cxn modelId="{C6959703-37CB-4E46-9DFF-EB4E08BE5100}" type="presOf" srcId="{BBF6BD7A-433A-451E-8C9A-A10B1F4A4B18}" destId="{BA0C8716-5105-4F1C-A061-E5B410E3E4D6}" srcOrd="0" destOrd="0" presId="urn:microsoft.com/office/officeart/2005/8/layout/process5"/>
    <dgm:cxn modelId="{ACA43825-E2C3-4541-A2FF-F6A037A01213}" type="presOf" srcId="{3C3C9D4B-9914-4F95-9756-4CB9D759C199}" destId="{7428F96D-FCD1-4E4C-9873-7B24C484E518}" srcOrd="0" destOrd="0" presId="urn:microsoft.com/office/officeart/2005/8/layout/process5"/>
    <dgm:cxn modelId="{35226B2E-AA5B-4157-84CF-C04860210582}" srcId="{0A2E07C8-5E04-443A-976C-7ED8A0394C47}" destId="{BBF6BD7A-433A-451E-8C9A-A10B1F4A4B18}" srcOrd="0" destOrd="0" parTransId="{6AD0C126-0BDB-4AAC-8B74-25D3853DB42E}" sibTransId="{3C3C9D4B-9914-4F95-9756-4CB9D759C199}"/>
    <dgm:cxn modelId="{65FC0D33-D04A-427A-90E7-7369DE05EA84}" srcId="{0A2E07C8-5E04-443A-976C-7ED8A0394C47}" destId="{7D7F7110-B7A6-4482-B0FC-7840E0F87DB0}" srcOrd="3" destOrd="0" parTransId="{7700CD36-E95F-4AB2-986B-A8E743048638}" sibTransId="{997A00B2-45B5-43C2-92E2-DC6FFCFAB024}"/>
    <dgm:cxn modelId="{22EAD537-E33E-4C0B-A7F7-F22608F4C4B6}" srcId="{0A2E07C8-5E04-443A-976C-7ED8A0394C47}" destId="{6D9CB8A6-788A-4385-898D-4B016AE9795B}" srcOrd="5" destOrd="0" parTransId="{7AF97291-9FF3-43EB-95C0-0177115AB9DB}" sibTransId="{C14F003E-AFC3-4DF5-9B9A-D24B4D8F8B11}"/>
    <dgm:cxn modelId="{D47B603D-D6B3-4BAF-8A94-E1E906A271F4}" type="presOf" srcId="{8A414BBF-DD20-45ED-B6DC-710AD38AC286}" destId="{96A63B54-FAE5-48CA-B6D6-05B3F9213471}" srcOrd="0" destOrd="0" presId="urn:microsoft.com/office/officeart/2005/8/layout/process5"/>
    <dgm:cxn modelId="{B229F45F-1B0E-4A8E-B28C-68A66FDDB019}" type="presOf" srcId="{E6759F19-55F2-4FB8-919B-20CC6DF04739}" destId="{112FC624-A9E3-47BC-830E-CB7DC62237E3}" srcOrd="1" destOrd="0" presId="urn:microsoft.com/office/officeart/2005/8/layout/process5"/>
    <dgm:cxn modelId="{3F78A242-5EA0-4DF7-90BE-26F567A2A33C}" srcId="{0A2E07C8-5E04-443A-976C-7ED8A0394C47}" destId="{0C0D5B35-3ADF-4C44-A7B4-BC3A61AE6591}" srcOrd="1" destOrd="0" parTransId="{6B465470-099D-44E2-8E0B-80E647EEFB47}" sibTransId="{904927FA-29EC-4EE9-9656-BA77BB9570E4}"/>
    <dgm:cxn modelId="{34C18768-A2F8-4DE7-95C1-7CD3CF342BCE}" type="presOf" srcId="{0A2E07C8-5E04-443A-976C-7ED8A0394C47}" destId="{240E0451-065A-420B-B6C2-AC86DDBFBF7A}" srcOrd="0" destOrd="0" presId="urn:microsoft.com/office/officeart/2005/8/layout/process5"/>
    <dgm:cxn modelId="{DF708F6A-B7DD-42BB-BBDE-9ED3A1E2E304}" type="presOf" srcId="{904927FA-29EC-4EE9-9656-BA77BB9570E4}" destId="{0E660BFF-0B65-4144-A0F0-89DB2FA0D5A3}" srcOrd="0" destOrd="0" presId="urn:microsoft.com/office/officeart/2005/8/layout/process5"/>
    <dgm:cxn modelId="{3EF3BB6C-0909-4645-9111-474E9CAC3FE0}" type="presOf" srcId="{997A00B2-45B5-43C2-92E2-DC6FFCFAB024}" destId="{3F0B2E39-B423-42B7-8E3B-B3E35134DA10}" srcOrd="1" destOrd="0" presId="urn:microsoft.com/office/officeart/2005/8/layout/process5"/>
    <dgm:cxn modelId="{367BC056-48C7-4BBA-9F0A-98E5A4D8878C}" type="presOf" srcId="{997A00B2-45B5-43C2-92E2-DC6FFCFAB024}" destId="{7A337759-38B7-4065-B1C3-48AE5A2E3AE8}" srcOrd="0" destOrd="0" presId="urn:microsoft.com/office/officeart/2005/8/layout/process5"/>
    <dgm:cxn modelId="{FBC60B77-E02D-4704-97B1-B41C294070C2}" type="presOf" srcId="{3C3C9D4B-9914-4F95-9756-4CB9D759C199}" destId="{74546C8E-12EC-4355-AE71-F445AFC6DC43}" srcOrd="1" destOrd="0" presId="urn:microsoft.com/office/officeart/2005/8/layout/process5"/>
    <dgm:cxn modelId="{12DB2E7E-FD37-4130-A4AC-98A86653506F}" type="presOf" srcId="{E6759F19-55F2-4FB8-919B-20CC6DF04739}" destId="{1E37D163-174D-47D5-9527-857074B33595}" srcOrd="0" destOrd="0" presId="urn:microsoft.com/office/officeart/2005/8/layout/process5"/>
    <dgm:cxn modelId="{EA638BAB-3182-46C4-82ED-C6940DB769E3}" srcId="{0A2E07C8-5E04-443A-976C-7ED8A0394C47}" destId="{8A414BBF-DD20-45ED-B6DC-710AD38AC286}" srcOrd="2" destOrd="0" parTransId="{BAEBB57A-88A9-402E-B1CF-859D32255099}" sibTransId="{C585F71F-4CFF-4460-8D0A-6339A9C98378}"/>
    <dgm:cxn modelId="{0DD541BA-13E3-4DB6-B569-7C5AB6936209}" type="presOf" srcId="{C585F71F-4CFF-4460-8D0A-6339A9C98378}" destId="{661482CF-C96C-4168-82F1-BEF5D08DBB11}" srcOrd="0" destOrd="0" presId="urn:microsoft.com/office/officeart/2005/8/layout/process5"/>
    <dgm:cxn modelId="{530FFFD1-9010-4618-AFC3-905E1795BDF7}" type="presOf" srcId="{0C0D5B35-3ADF-4C44-A7B4-BC3A61AE6591}" destId="{4BE8E94F-4FE0-4507-80EB-8ADF06E8CC53}" srcOrd="0" destOrd="0" presId="urn:microsoft.com/office/officeart/2005/8/layout/process5"/>
    <dgm:cxn modelId="{9163BDD6-E8E1-4A97-9441-B71B68FFC4E4}" type="presOf" srcId="{904927FA-29EC-4EE9-9656-BA77BB9570E4}" destId="{71F7725C-3DFE-4873-8F9E-03BB615237E3}" srcOrd="1" destOrd="0" presId="urn:microsoft.com/office/officeart/2005/8/layout/process5"/>
    <dgm:cxn modelId="{328963DB-E6AA-409B-AFB9-DC25CE4B3C06}" srcId="{0A2E07C8-5E04-443A-976C-7ED8A0394C47}" destId="{9F100091-6FF3-422A-B507-90F1FEF017E0}" srcOrd="4" destOrd="0" parTransId="{B60E8FE3-34A0-4C4E-8AA3-BE19EED66B5F}" sibTransId="{E6759F19-55F2-4FB8-919B-20CC6DF04739}"/>
    <dgm:cxn modelId="{513A82DF-55C0-4AE3-A21A-B9DE77ECCF5D}" type="presOf" srcId="{C585F71F-4CFF-4460-8D0A-6339A9C98378}" destId="{D83DFC14-7D31-4902-BDC0-55E77650CDD8}" srcOrd="1" destOrd="0" presId="urn:microsoft.com/office/officeart/2005/8/layout/process5"/>
    <dgm:cxn modelId="{6B7978E0-26E7-4E13-A935-9DA51B0E447B}" type="presOf" srcId="{7D7F7110-B7A6-4482-B0FC-7840E0F87DB0}" destId="{7307DC74-C3CF-4661-BC23-3C5990313BF3}" srcOrd="0" destOrd="0" presId="urn:microsoft.com/office/officeart/2005/8/layout/process5"/>
    <dgm:cxn modelId="{0F12A5E9-14E7-4EEB-85CE-EEF9E972F43F}" type="presOf" srcId="{9F100091-6FF3-422A-B507-90F1FEF017E0}" destId="{654A228D-A9E4-45D1-A47C-6B9D2B7E3D34}" srcOrd="0" destOrd="0" presId="urn:microsoft.com/office/officeart/2005/8/layout/process5"/>
    <dgm:cxn modelId="{2886E5F1-447D-43CA-B3E1-C48AFEB7F75C}" type="presOf" srcId="{6D9CB8A6-788A-4385-898D-4B016AE9795B}" destId="{0DBCD464-773F-42A8-9AD0-51D0E8FEE87A}" srcOrd="0" destOrd="0" presId="urn:microsoft.com/office/officeart/2005/8/layout/process5"/>
    <dgm:cxn modelId="{A0BB33CA-D319-4CA2-8A92-371085183467}" type="presParOf" srcId="{240E0451-065A-420B-B6C2-AC86DDBFBF7A}" destId="{BA0C8716-5105-4F1C-A061-E5B410E3E4D6}" srcOrd="0" destOrd="0" presId="urn:microsoft.com/office/officeart/2005/8/layout/process5"/>
    <dgm:cxn modelId="{2B962C8E-CB06-475F-8844-025FEB4784C8}" type="presParOf" srcId="{240E0451-065A-420B-B6C2-AC86DDBFBF7A}" destId="{7428F96D-FCD1-4E4C-9873-7B24C484E518}" srcOrd="1" destOrd="0" presId="urn:microsoft.com/office/officeart/2005/8/layout/process5"/>
    <dgm:cxn modelId="{2678B27E-E139-4D35-A2E0-AEC3EDE92720}" type="presParOf" srcId="{7428F96D-FCD1-4E4C-9873-7B24C484E518}" destId="{74546C8E-12EC-4355-AE71-F445AFC6DC43}" srcOrd="0" destOrd="0" presId="urn:microsoft.com/office/officeart/2005/8/layout/process5"/>
    <dgm:cxn modelId="{B9D588E3-E59A-4A01-BFE9-A4AF756D6AFF}" type="presParOf" srcId="{240E0451-065A-420B-B6C2-AC86DDBFBF7A}" destId="{4BE8E94F-4FE0-4507-80EB-8ADF06E8CC53}" srcOrd="2" destOrd="0" presId="urn:microsoft.com/office/officeart/2005/8/layout/process5"/>
    <dgm:cxn modelId="{4AEF0962-48AA-467F-85F1-9F182275E6A3}" type="presParOf" srcId="{240E0451-065A-420B-B6C2-AC86DDBFBF7A}" destId="{0E660BFF-0B65-4144-A0F0-89DB2FA0D5A3}" srcOrd="3" destOrd="0" presId="urn:microsoft.com/office/officeart/2005/8/layout/process5"/>
    <dgm:cxn modelId="{4D40F49F-0A61-4DF4-A74A-181ADBDDDB5E}" type="presParOf" srcId="{0E660BFF-0B65-4144-A0F0-89DB2FA0D5A3}" destId="{71F7725C-3DFE-4873-8F9E-03BB615237E3}" srcOrd="0" destOrd="0" presId="urn:microsoft.com/office/officeart/2005/8/layout/process5"/>
    <dgm:cxn modelId="{4715DA41-3290-4529-94FB-2DDF5624E5C3}" type="presParOf" srcId="{240E0451-065A-420B-B6C2-AC86DDBFBF7A}" destId="{96A63B54-FAE5-48CA-B6D6-05B3F9213471}" srcOrd="4" destOrd="0" presId="urn:microsoft.com/office/officeart/2005/8/layout/process5"/>
    <dgm:cxn modelId="{07A62C0D-B059-4EAA-B632-A31C3A5897C0}" type="presParOf" srcId="{240E0451-065A-420B-B6C2-AC86DDBFBF7A}" destId="{661482CF-C96C-4168-82F1-BEF5D08DBB11}" srcOrd="5" destOrd="0" presId="urn:microsoft.com/office/officeart/2005/8/layout/process5"/>
    <dgm:cxn modelId="{9B847AC3-2A81-41C4-895C-0C7FC86B4F70}" type="presParOf" srcId="{661482CF-C96C-4168-82F1-BEF5D08DBB11}" destId="{D83DFC14-7D31-4902-BDC0-55E77650CDD8}" srcOrd="0" destOrd="0" presId="urn:microsoft.com/office/officeart/2005/8/layout/process5"/>
    <dgm:cxn modelId="{A59CA480-0E5E-481B-8E45-D59EC014F262}" type="presParOf" srcId="{240E0451-065A-420B-B6C2-AC86DDBFBF7A}" destId="{7307DC74-C3CF-4661-BC23-3C5990313BF3}" srcOrd="6" destOrd="0" presId="urn:microsoft.com/office/officeart/2005/8/layout/process5"/>
    <dgm:cxn modelId="{7FF93408-6F32-4651-BACA-617B851AA7F8}" type="presParOf" srcId="{240E0451-065A-420B-B6C2-AC86DDBFBF7A}" destId="{7A337759-38B7-4065-B1C3-48AE5A2E3AE8}" srcOrd="7" destOrd="0" presId="urn:microsoft.com/office/officeart/2005/8/layout/process5"/>
    <dgm:cxn modelId="{E24E9B71-563C-479C-B7FD-F3060DA40B2E}" type="presParOf" srcId="{7A337759-38B7-4065-B1C3-48AE5A2E3AE8}" destId="{3F0B2E39-B423-42B7-8E3B-B3E35134DA10}" srcOrd="0" destOrd="0" presId="urn:microsoft.com/office/officeart/2005/8/layout/process5"/>
    <dgm:cxn modelId="{70F96DD1-8342-4E34-9414-3A41AB37E064}" type="presParOf" srcId="{240E0451-065A-420B-B6C2-AC86DDBFBF7A}" destId="{654A228D-A9E4-45D1-A47C-6B9D2B7E3D34}" srcOrd="8" destOrd="0" presId="urn:microsoft.com/office/officeart/2005/8/layout/process5"/>
    <dgm:cxn modelId="{0F5D7C6E-A18B-4FA7-9BE1-9BE39C5F9E48}" type="presParOf" srcId="{240E0451-065A-420B-B6C2-AC86DDBFBF7A}" destId="{1E37D163-174D-47D5-9527-857074B33595}" srcOrd="9" destOrd="0" presId="urn:microsoft.com/office/officeart/2005/8/layout/process5"/>
    <dgm:cxn modelId="{09E8A65E-5885-446A-BA04-979DDF168281}" type="presParOf" srcId="{1E37D163-174D-47D5-9527-857074B33595}" destId="{112FC624-A9E3-47BC-830E-CB7DC62237E3}" srcOrd="0" destOrd="0" presId="urn:microsoft.com/office/officeart/2005/8/layout/process5"/>
    <dgm:cxn modelId="{8FA4BDC4-52A4-4D0D-9929-3DA497C2CE66}" type="presParOf" srcId="{240E0451-065A-420B-B6C2-AC86DDBFBF7A}" destId="{0DBCD464-773F-42A8-9AD0-51D0E8FEE87A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0C8716-5105-4F1C-A061-E5B410E3E4D6}">
      <dsp:nvSpPr>
        <dsp:cNvPr id="0" name=""/>
        <dsp:cNvSpPr/>
      </dsp:nvSpPr>
      <dsp:spPr>
        <a:xfrm>
          <a:off x="7143" y="1001183"/>
          <a:ext cx="2135187" cy="128111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Introduction</a:t>
          </a:r>
        </a:p>
      </dsp:txBody>
      <dsp:txXfrm>
        <a:off x="44665" y="1038705"/>
        <a:ext cx="2060143" cy="1206068"/>
      </dsp:txXfrm>
    </dsp:sp>
    <dsp:sp modelId="{7428F96D-FCD1-4E4C-9873-7B24C484E518}">
      <dsp:nvSpPr>
        <dsp:cNvPr id="0" name=""/>
        <dsp:cNvSpPr/>
      </dsp:nvSpPr>
      <dsp:spPr>
        <a:xfrm>
          <a:off x="2330227" y="1376976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2330227" y="1482881"/>
        <a:ext cx="316861" cy="317716"/>
      </dsp:txXfrm>
    </dsp:sp>
    <dsp:sp modelId="{4BE8E94F-4FE0-4507-80EB-8ADF06E8CC53}">
      <dsp:nvSpPr>
        <dsp:cNvPr id="0" name=""/>
        <dsp:cNvSpPr/>
      </dsp:nvSpPr>
      <dsp:spPr>
        <a:xfrm>
          <a:off x="2996406" y="1001183"/>
          <a:ext cx="2135187" cy="1281112"/>
        </a:xfrm>
        <a:prstGeom prst="roundRect">
          <a:avLst>
            <a:gd name="adj" fmla="val 10000"/>
          </a:avLst>
        </a:prstGeom>
        <a:solidFill>
          <a:schemeClr val="accent4">
            <a:hueOff val="1960178"/>
            <a:satOff val="-8155"/>
            <a:lumOff val="1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Problem Statement &amp; Objectives</a:t>
          </a:r>
          <a:endParaRPr lang="en-IN" sz="2400" kern="1200" dirty="0"/>
        </a:p>
      </dsp:txBody>
      <dsp:txXfrm>
        <a:off x="3033928" y="1038705"/>
        <a:ext cx="2060143" cy="1206068"/>
      </dsp:txXfrm>
    </dsp:sp>
    <dsp:sp modelId="{0E660BFF-0B65-4144-A0F0-89DB2FA0D5A3}">
      <dsp:nvSpPr>
        <dsp:cNvPr id="0" name=""/>
        <dsp:cNvSpPr/>
      </dsp:nvSpPr>
      <dsp:spPr>
        <a:xfrm>
          <a:off x="5319490" y="1376976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2450223"/>
            <a:satOff val="-10194"/>
            <a:lumOff val="24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5319490" y="1482881"/>
        <a:ext cx="316861" cy="317716"/>
      </dsp:txXfrm>
    </dsp:sp>
    <dsp:sp modelId="{96A63B54-FAE5-48CA-B6D6-05B3F9213471}">
      <dsp:nvSpPr>
        <dsp:cNvPr id="0" name=""/>
        <dsp:cNvSpPr/>
      </dsp:nvSpPr>
      <dsp:spPr>
        <a:xfrm>
          <a:off x="5985668" y="1001183"/>
          <a:ext cx="2135187" cy="1281112"/>
        </a:xfrm>
        <a:prstGeom prst="roundRect">
          <a:avLst>
            <a:gd name="adj" fmla="val 10000"/>
          </a:avLst>
        </a:prstGeom>
        <a:solidFill>
          <a:schemeClr val="accent4">
            <a:hueOff val="3920356"/>
            <a:satOff val="-16311"/>
            <a:lumOff val="3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Literature Survey &amp; Research Gap</a:t>
          </a:r>
          <a:endParaRPr lang="en-IN" sz="2400" kern="1200" dirty="0"/>
        </a:p>
      </dsp:txBody>
      <dsp:txXfrm>
        <a:off x="6023190" y="1038705"/>
        <a:ext cx="2060143" cy="1206068"/>
      </dsp:txXfrm>
    </dsp:sp>
    <dsp:sp modelId="{661482CF-C96C-4168-82F1-BEF5D08DBB11}">
      <dsp:nvSpPr>
        <dsp:cNvPr id="0" name=""/>
        <dsp:cNvSpPr/>
      </dsp:nvSpPr>
      <dsp:spPr>
        <a:xfrm rot="5400000">
          <a:off x="6826932" y="2431759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 rot="-5400000">
        <a:off x="6894404" y="2470192"/>
        <a:ext cx="317716" cy="316861"/>
      </dsp:txXfrm>
    </dsp:sp>
    <dsp:sp modelId="{7307DC74-C3CF-4661-BC23-3C5990313BF3}">
      <dsp:nvSpPr>
        <dsp:cNvPr id="0" name=""/>
        <dsp:cNvSpPr/>
      </dsp:nvSpPr>
      <dsp:spPr>
        <a:xfrm>
          <a:off x="5985668" y="3136371"/>
          <a:ext cx="2135187" cy="1281112"/>
        </a:xfrm>
        <a:prstGeom prst="roundRect">
          <a:avLst>
            <a:gd name="adj" fmla="val 10000"/>
          </a:avLst>
        </a:prstGeom>
        <a:solidFill>
          <a:schemeClr val="accent4">
            <a:hueOff val="5880535"/>
            <a:satOff val="-24466"/>
            <a:lumOff val="5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Proposed System &amp; Architecture</a:t>
          </a:r>
        </a:p>
      </dsp:txBody>
      <dsp:txXfrm>
        <a:off x="6023190" y="3173893"/>
        <a:ext cx="2060143" cy="1206068"/>
      </dsp:txXfrm>
    </dsp:sp>
    <dsp:sp modelId="{7A337759-38B7-4065-B1C3-48AE5A2E3AE8}">
      <dsp:nvSpPr>
        <dsp:cNvPr id="0" name=""/>
        <dsp:cNvSpPr/>
      </dsp:nvSpPr>
      <dsp:spPr>
        <a:xfrm rot="10800000">
          <a:off x="5345112" y="3512163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7350668"/>
            <a:satOff val="-30583"/>
            <a:lumOff val="72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 rot="10800000">
        <a:off x="5480910" y="3618068"/>
        <a:ext cx="316861" cy="317716"/>
      </dsp:txXfrm>
    </dsp:sp>
    <dsp:sp modelId="{654A228D-A9E4-45D1-A47C-6B9D2B7E3D34}">
      <dsp:nvSpPr>
        <dsp:cNvPr id="0" name=""/>
        <dsp:cNvSpPr/>
      </dsp:nvSpPr>
      <dsp:spPr>
        <a:xfrm>
          <a:off x="2996406" y="3136370"/>
          <a:ext cx="2135187" cy="1281112"/>
        </a:xfrm>
        <a:prstGeom prst="roundRect">
          <a:avLst>
            <a:gd name="adj" fmla="val 10000"/>
          </a:avLst>
        </a:prstGeom>
        <a:solidFill>
          <a:schemeClr val="accent4">
            <a:hueOff val="7840713"/>
            <a:satOff val="-32622"/>
            <a:lumOff val="76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Innovation, Feasibility &amp; Project Plan</a:t>
          </a:r>
        </a:p>
      </dsp:txBody>
      <dsp:txXfrm>
        <a:off x="3033928" y="3173892"/>
        <a:ext cx="2060143" cy="1206068"/>
      </dsp:txXfrm>
    </dsp:sp>
    <dsp:sp modelId="{1E37D163-174D-47D5-9527-857074B33595}">
      <dsp:nvSpPr>
        <dsp:cNvPr id="0" name=""/>
        <dsp:cNvSpPr/>
      </dsp:nvSpPr>
      <dsp:spPr>
        <a:xfrm rot="10800000">
          <a:off x="2355850" y="3512163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 rot="10800000">
        <a:off x="2491648" y="3618068"/>
        <a:ext cx="316861" cy="317716"/>
      </dsp:txXfrm>
    </dsp:sp>
    <dsp:sp modelId="{0DBCD464-773F-42A8-9AD0-51D0E8FEE87A}">
      <dsp:nvSpPr>
        <dsp:cNvPr id="0" name=""/>
        <dsp:cNvSpPr/>
      </dsp:nvSpPr>
      <dsp:spPr>
        <a:xfrm>
          <a:off x="7143" y="3136370"/>
          <a:ext cx="2135187" cy="1281112"/>
        </a:xfrm>
        <a:prstGeom prst="roundRect">
          <a:avLst>
            <a:gd name="adj" fmla="val 1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Expected Outcomes &amp; Future Work</a:t>
          </a:r>
        </a:p>
      </dsp:txBody>
      <dsp:txXfrm>
        <a:off x="44665" y="3173892"/>
        <a:ext cx="2060143" cy="1206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12" Type="http://schemas.microsoft.com/office/2007/relationships/diagramDrawing" Target="../diagrams/drawing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11" Type="http://schemas.openxmlformats.org/officeDocument/2006/relationships/diagramColors" Target="../diagrams/colors2.xml"/><Relationship Id="rId5" Type="http://schemas.openxmlformats.org/officeDocument/2006/relationships/diagramColors" Target="../diagrams/colors1.xml"/><Relationship Id="rId10" Type="http://schemas.openxmlformats.org/officeDocument/2006/relationships/diagramQuickStyle" Target="../diagrams/quickStyle2.xml"/><Relationship Id="rId4" Type="http://schemas.openxmlformats.org/officeDocument/2006/relationships/diagramQuickStyle" Target="../diagrams/quickStyle1.xml"/><Relationship Id="rId9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172354"/>
              </p:ext>
            </p:extLst>
          </p:nvPr>
        </p:nvGraphicFramePr>
        <p:xfrm>
          <a:off x="8193271" y="4898509"/>
          <a:ext cx="3702050" cy="12421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2421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SUNKARA NIKHILEASH – 2420030596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SIDDHARTHA CHEEKATI –  2420090015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RAMATEERTHAM RAHUL – 2420090043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21 September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RTOS Project Review-II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1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WardMind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AI: Autonomous Hospital Resource Allocation Through Multi-Agent Clinical Coordination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Review-II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 September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RTOS Project Review-II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646464"/>
                </a:solidFill>
              </a:defRPr>
            </a:pPr>
            <a:r>
              <a:t>2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D3D81AF-8345-2F03-1000-FEF4F4152A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275950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1465006" y="311275"/>
            <a:ext cx="83672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478E8C-9D25-C1A6-FBA9-7EB8684F72EF}"/>
              </a:ext>
            </a:extLst>
          </p:cNvPr>
          <p:cNvSpPr txBox="1"/>
          <p:nvPr/>
        </p:nvSpPr>
        <p:spPr>
          <a:xfrm>
            <a:off x="1248698" y="1524001"/>
            <a:ext cx="953729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Hospitals operate in highly dynamic environments where patient arrivals, emergency cases, bed availability, staff workload, medical equipment, diagnostic facilities, and operating rooms change continuously.</a:t>
            </a:r>
          </a:p>
          <a:p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Manual coordination and fixed schedules can lead to </a:t>
            </a:r>
            <a:r>
              <a:rPr lang="en-IN" sz="2000" b="1" dirty="0"/>
              <a:t>delays and resource conflicts</a:t>
            </a:r>
            <a:r>
              <a:rPr lang="en-IN" sz="20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Limited bed availability can contribute to </a:t>
            </a:r>
            <a:r>
              <a:rPr lang="en-IN" sz="2000" b="1" dirty="0"/>
              <a:t>overcrowding and inefficient allocation</a:t>
            </a:r>
            <a:r>
              <a:rPr lang="en-IN" sz="20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Changing staff workloads can make </a:t>
            </a:r>
            <a:r>
              <a:rPr lang="en-IN" sz="2000" b="1" dirty="0"/>
              <a:t>static scheduling ineffective</a:t>
            </a:r>
            <a:r>
              <a:rPr lang="en-IN" sz="20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Emergency cases require </a:t>
            </a:r>
            <a:r>
              <a:rPr lang="en-IN" sz="2000" b="1" dirty="0"/>
              <a:t>fast coordination of multiple hospital resources</a:t>
            </a:r>
            <a:r>
              <a:rPr lang="en-IN" sz="20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Unavailable resources may require </a:t>
            </a:r>
            <a:r>
              <a:rPr lang="en-IN" sz="2000" b="1" dirty="0"/>
              <a:t>quick identification of alternative resources</a:t>
            </a:r>
            <a:r>
              <a:rPr lang="en-IN" sz="20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lvl="0"/>
            <a:r>
              <a:rPr lang="en-IN" sz="2000" dirty="0"/>
              <a:t>Therefore, there is a need for an adaptive and intelligent system that can dynamically coordinate and allocate hospital resources based on changing conditions.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1189703" y="469169"/>
            <a:ext cx="93013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B2958E-5A9F-BA7C-BF0F-1F4745BEC07B}"/>
              </a:ext>
            </a:extLst>
          </p:cNvPr>
          <p:cNvSpPr txBox="1"/>
          <p:nvPr/>
        </p:nvSpPr>
        <p:spPr>
          <a:xfrm>
            <a:off x="1465006" y="1661651"/>
            <a:ext cx="961594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develop an </a:t>
            </a:r>
            <a:r>
              <a:rPr lang="en-IN" sz="2000" b="1" dirty="0"/>
              <a:t>intelligent hospital resource-allocation framework</a:t>
            </a:r>
            <a:r>
              <a:rPr lang="en-IN" sz="2000" dirty="0"/>
              <a:t> using AI and Multi-Agent Systems.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enable </a:t>
            </a:r>
            <a:r>
              <a:rPr lang="en-IN" sz="2000" b="1" dirty="0"/>
              <a:t>dynamic allocation of hospital resources</a:t>
            </a:r>
            <a:r>
              <a:rPr lang="en-IN" sz="2000" dirty="0"/>
              <a:t> based on patient priority, severity, and resource availability.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allow specialized AI agents to </a:t>
            </a:r>
            <a:r>
              <a:rPr lang="en-IN" sz="2000" b="1" dirty="0"/>
              <a:t>communicate and collaborate</a:t>
            </a:r>
            <a:r>
              <a:rPr lang="en-IN" sz="2000" dirty="0"/>
              <a:t> across different hospital functions.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provide </a:t>
            </a:r>
            <a:r>
              <a:rPr lang="en-IN" sz="2000" b="1" dirty="0"/>
              <a:t>faster response to emergency situations</a:t>
            </a:r>
            <a:r>
              <a:rPr lang="en-IN" sz="2000" dirty="0"/>
              <a:t> through coordinated resource allocation.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minimize </a:t>
            </a:r>
            <a:r>
              <a:rPr lang="en-IN" sz="2000" b="1" dirty="0"/>
              <a:t>patient waiting time and resource conflicts</a:t>
            </a:r>
            <a:r>
              <a:rPr lang="en-IN" sz="2000" dirty="0"/>
              <a:t> while balancing staff workload.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improve the overall </a:t>
            </a:r>
            <a:r>
              <a:rPr lang="en-IN" sz="2000" b="1" dirty="0"/>
              <a:t>utilization of hospital beds, staff, equipment, and clinical facilities</a:t>
            </a:r>
            <a:r>
              <a:rPr lang="en-IN" sz="20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526A"/>
                </a:solidFill>
                <a:latin typeface="Aptos Display"/>
              </a:defRPr>
            </a:pPr>
            <a:r>
              <a:t>Base Paper (2025)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548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200" b="1">
                <a:solidFill>
                  <a:srgbClr val="10526A"/>
                </a:solidFill>
                <a:latin typeface="Aptos"/>
              </a:defRPr>
            </a:pPr>
            <a:r>
              <a:t>Enhancing Healthcare Resource Allocation Through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400" b="0">
                <a:solidFill>
                  <a:srgbClr val="464646"/>
                </a:solidFill>
                <a:latin typeface="Aptos"/>
              </a:defRPr>
            </a:pPr>
            <a:r>
              <a:t>Fang Wan, Kezhi Wang, Tao Wang, Hu Qin, Julien Fondrevelle &amp; Antoine Duclos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0332720" cy="548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400" b="0">
                <a:solidFill>
                  <a:srgbClr val="464646"/>
                </a:solidFill>
                <a:latin typeface="Aptos"/>
              </a:defRPr>
            </a:pPr>
            <a:r>
              <a:t>Swarm and Evolutionary Computation, Vol. 94, 101859 (2025) | Elsevier</a:t>
            </a:r>
            <a:br/>
            <a:r>
              <a:t>DOI: 10.1016/j.swevo.2025.101859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Problem: dynamic hospital resource allocation with limited operating rooms, recovery beds and healthcare staff.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Method: Large Language Models with Prompt Engineering, Retrieval-Augmented Generation (RAG) and Tool Utilization.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Resources studied: operating rooms, postoperative beds and surgeons for elective surgery.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Objectives: reduce OR cost/overtime, surgeon overtime and peak bed demand.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Why it is our base: WardMind extends the resource-allocation idea toward patient-priority, alerts and broader coordinated hospital resources.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7686979"/>
              </p:ext>
            </p:extLst>
          </p:nvPr>
        </p:nvGraphicFramePr>
        <p:xfrm>
          <a:off x="274646" y="1093315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Schäfer et al.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Combining Machine Learning and Optimization for the Operational Patient-Bed Assignment Problem</a:t>
                      </a:r>
                      <a:r>
                        <a:rPr lang="en-IN" sz="1400" dirty="0"/>
                        <a:t> (2023)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Machine Learning for forecasting emergency patient arrivals + optimization-based bed assignment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Combining ML forecasting with optimization improved hospital bed-assignment decisions and helped handle uncertainty in emergency arrivals.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Focuses mainly on </a:t>
                      </a:r>
                      <a:r>
                        <a:rPr lang="en-IN" sz="1400" b="1" dirty="0"/>
                        <a:t>patient-bed assignment</a:t>
                      </a:r>
                      <a:r>
                        <a:rPr lang="en-IN" sz="1400" dirty="0"/>
                        <a:t> rather than coordination of multiple hospital resources.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D. V. et al.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Patient-</a:t>
                      </a:r>
                      <a:r>
                        <a:rPr lang="en-IN" sz="1400" b="1" dirty="0" err="1"/>
                        <a:t>centered</a:t>
                      </a:r>
                      <a:r>
                        <a:rPr lang="en-IN" sz="1400" b="1" dirty="0"/>
                        <a:t> Multi Agent System for Health Care</a:t>
                      </a:r>
                      <a:r>
                        <a:rPr lang="en-IN" sz="1400" dirty="0"/>
                        <a:t> (2015)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Multi-Agent System for planning and controlling patient flow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Demonstrates how multiple agents can support patient-flow management, workload balancing and resource utilization in healthcare.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Focuses mainly on patient flow and decision support rather than a complete hospital-wide resource allocation system.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t>Wan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t>Enhancing Healthcare Resource Allocation Through Large Language Models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t>LLM-based allocation using Prompt Engineering, RAG and Tool Utilization for ORs, postoperative beds and surgeons.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t>LLMs adapt to changing problem scale/demand and were compared with exact and heuristic methods.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t>Focused mainly on elective surgery resources. Authors note input-data quality, randomness/hallucination, and future need for emergencies and uncertainty.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9A8C-9B92-4D48-A6C8-6870D9F00B9F}" type="datetime3">
              <a:rPr lang="en-US" smtClean="0"/>
              <a:t>21 September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RTOS Project Review-II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6</a:t>
            </a: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9A8C-9B92-4D48-A6C8-6870D9F00B9F}" type="datetime3">
              <a:rPr lang="en-US" smtClean="0"/>
              <a:t>21 September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RTOS Project Review-II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7</a:t>
            </a:r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526A"/>
                </a:solidFill>
                <a:latin typeface="Aptos Display"/>
              </a:defRPr>
            </a:pPr>
            <a:r>
              <a:t>Literature Survey - 2026 Journal Paper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1417320"/>
          <a:ext cx="115671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20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526A"/>
                          </a:solidFill>
                          <a:latin typeface="Aptos"/>
                        </a:defRPr>
                      </a:pPr>
                      <a:r>
                        <a:t>Authors</a:t>
                      </a:r>
                    </a:p>
                  </a:txBody>
                  <a:tcPr>
                    <a:solidFill>
                      <a:srgbClr val="FFF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526A"/>
                          </a:solidFill>
                          <a:latin typeface="Aptos"/>
                        </a:defRPr>
                      </a:pPr>
                      <a:r>
                        <a:t>Title of the Paper</a:t>
                      </a:r>
                    </a:p>
                  </a:txBody>
                  <a:tcPr>
                    <a:solidFill>
                      <a:srgbClr val="FFF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526A"/>
                          </a:solidFill>
                          <a:latin typeface="Aptos"/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FFF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526A"/>
                          </a:solidFill>
                          <a:latin typeface="Aptos"/>
                        </a:defRPr>
                      </a:pPr>
                      <a:r>
                        <a:t>Inferences</a:t>
                      </a:r>
                    </a:p>
                  </a:txBody>
                  <a:tcPr>
                    <a:solidFill>
                      <a:srgbClr val="FFF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526A"/>
                          </a:solidFill>
                          <a:latin typeface="Aptos"/>
                        </a:defRPr>
                      </a:pPr>
                      <a:r>
                        <a:t>Limitation / Future work</a:t>
                      </a:r>
                    </a:p>
                  </a:txBody>
                  <a:tcPr>
                    <a:solidFill>
                      <a:srgbClr val="FFF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0">
                <a:tc>
                  <a:txBody>
                    <a:bodyPr/>
                    <a:lstStyle/>
                    <a:p>
                      <a:pPr>
                        <a:defRPr sz="1100">
                          <a:latin typeface="Aptos"/>
                        </a:defRPr>
                      </a:pPr>
                      <a:r>
                        <a:t>Utsho et al.</a:t>
                      </a:r>
                    </a:p>
                  </a:txBody>
                  <a:tcPr>
                    <a:solidFill>
                      <a:srgbClr val="DAE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ptos"/>
                        </a:defRPr>
                      </a:pPr>
                      <a:r>
                        <a:t>Artificial Intelligence Applications for Hospital Resource Allocation in Emergency Preparedness (2026)</a:t>
                      </a:r>
                    </a:p>
                  </a:txBody>
                  <a:tcPr>
                    <a:solidFill>
                      <a:srgbClr val="DAE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ptos"/>
                        </a:defRPr>
                      </a:pPr>
                      <a:r>
                        <a:t>Scoping review (PRISMA-ScR) of AI for surge planning, real-time allocation, triage, workforce scheduling and supply chains.</a:t>
                      </a:r>
                    </a:p>
                  </a:txBody>
                  <a:tcPr>
                    <a:solidFill>
                      <a:srgbClr val="DAE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ptos"/>
                        </a:defRPr>
                      </a:pPr>
                      <a:r>
                        <a:t>AI supports predictive and adaptive resource decisions, but real-world deployment is still limited.</a:t>
                      </a:r>
                    </a:p>
                  </a:txBody>
                  <a:tcPr>
                    <a:solidFill>
                      <a:srgbClr val="DAE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ptos"/>
                        </a:defRPr>
                      </a:pPr>
                      <a:r>
                        <a:t>Challenges include interoperability, external validation, workforce readiness, robustness, fairness and multi-objective trade-offs.</a:t>
                      </a:r>
                    </a:p>
                  </a:txBody>
                  <a:tcPr>
                    <a:solidFill>
                      <a:srgbClr val="DAE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300" b="0">
                <a:solidFill>
                  <a:srgbClr val="505050"/>
                </a:solidFill>
                <a:latin typeface="Aptos"/>
              </a:defRPr>
            </a:pPr>
            <a:r>
              <a:t>Journal: Advances in Public Health (Wiley), 2026. This is supporting literature, not the base paper.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2993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29DC6A-A98C-9F49-2F5E-C4D9FD93081B}"/>
              </a:ext>
            </a:extLst>
          </p:cNvPr>
          <p:cNvSpPr txBox="1"/>
          <p:nvPr/>
        </p:nvSpPr>
        <p:spPr>
          <a:xfrm>
            <a:off x="1455174" y="1042219"/>
            <a:ext cx="928165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Existing Systems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Most existing solutions focus on </a:t>
            </a:r>
            <a:r>
              <a:rPr lang="en-IN" b="1" dirty="0"/>
              <a:t>specific hospital functions</a:t>
            </a:r>
            <a:r>
              <a:rPr lang="en-IN" dirty="0"/>
              <a:t> such as bed allocation, patient flow, or individual departments.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Many approaches address </a:t>
            </a:r>
            <a:r>
              <a:rPr lang="en-IN" b="1" dirty="0"/>
              <a:t>resource allocation as an isolated problem</a:t>
            </a:r>
            <a:r>
              <a:rPr lang="en-IN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Existing systems may not provide </a:t>
            </a:r>
            <a:r>
              <a:rPr lang="en-IN" b="1" dirty="0"/>
              <a:t>continuous coordination between multiple hospital resources</a:t>
            </a:r>
            <a:r>
              <a:rPr lang="en-IN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Limited focus on adapting resource allocation when </a:t>
            </a:r>
            <a:r>
              <a:rPr lang="en-IN" b="1" dirty="0"/>
              <a:t>emergency conditions or resource availability change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Identified Research Gap</a:t>
            </a:r>
          </a:p>
          <a:p>
            <a:r>
              <a:rPr lang="en-IN" dirty="0"/>
              <a:t>Lack of an integrated, adaptive and collaborative system that can coordinate multiple hospital resources through communicating AI agents.</a:t>
            </a:r>
          </a:p>
          <a:p>
            <a:endParaRPr lang="en-IN" dirty="0"/>
          </a:p>
          <a:p>
            <a:r>
              <a:rPr lang="en-IN" b="1" dirty="0"/>
              <a:t>Proposed Direction – </a:t>
            </a:r>
            <a:r>
              <a:rPr lang="en-IN" b="1" dirty="0" err="1"/>
              <a:t>WardMind</a:t>
            </a:r>
            <a:r>
              <a:rPr lang="en-IN" b="1" dirty="0"/>
              <a:t> AI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specialized AI agents</a:t>
            </a:r>
            <a:r>
              <a:rPr lang="en-IN" dirty="0"/>
              <a:t> for different hospital functions.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Enables agents to </a:t>
            </a:r>
            <a:r>
              <a:rPr lang="en-IN" b="1" dirty="0"/>
              <a:t>communicate and collaborate</a:t>
            </a:r>
            <a:r>
              <a:rPr lang="en-IN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Dynamically reallocates resources based on </a:t>
            </a:r>
            <a:r>
              <a:rPr lang="en-IN" b="1" dirty="0"/>
              <a:t>patient priority, resource availability and emergency conditions</a:t>
            </a:r>
            <a:r>
              <a:rPr lang="en-IN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Provides a </a:t>
            </a:r>
            <a:r>
              <a:rPr lang="en-IN" b="1" dirty="0"/>
              <a:t>unified approach to hospital-wide resource coordination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526A"/>
                </a:solidFill>
                <a:latin typeface="Aptos Display"/>
              </a:defRPr>
            </a:pPr>
            <a:r>
              <a:t>Base Paper -&gt; Research Gap -&gt; WardMind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201168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800" b="1">
                <a:solidFill>
                  <a:srgbClr val="10526A"/>
                </a:solidFill>
                <a:latin typeface="Aptos"/>
              </a:defRPr>
            </a:pPr>
            <a:r>
              <a:t>BASE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2377440" cy="914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500" b="0">
                <a:solidFill>
                  <a:srgbClr val="000000"/>
                </a:solidFill>
                <a:latin typeface="Aptos"/>
              </a:defRPr>
            </a:pPr>
            <a:r>
              <a:t>LLM-based allocation of</a:t>
            </a:r>
            <a:br/>
            <a:r>
              <a:t>ORs + postoperative beds + surgeons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234440"/>
            <a:ext cx="246888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700" b="1">
                <a:solidFill>
                  <a:srgbClr val="10526A"/>
                </a:solidFill>
                <a:latin typeface="Aptos"/>
              </a:defRPr>
            </a:pPr>
            <a:r>
              <a:t>LIMITATION / 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691640"/>
            <a:ext cx="2560320" cy="1097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500" b="0">
                <a:solidFill>
                  <a:srgbClr val="000000"/>
                </a:solidFill>
                <a:latin typeface="Aptos"/>
              </a:defRPr>
            </a:pPr>
            <a:r>
              <a:t>Elective-surgery scope;</a:t>
            </a:r>
            <a:br/>
            <a:r>
              <a:t>authors call for emergencies,</a:t>
            </a:r>
            <a:br/>
            <a:r>
              <a:t>uncertainty and stronger robustness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234440"/>
            <a:ext cx="201168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800" b="1">
                <a:solidFill>
                  <a:srgbClr val="10526A"/>
                </a:solidFill>
                <a:latin typeface="Aptos"/>
              </a:defRPr>
            </a:pPr>
            <a:r>
              <a:t>WARDMIND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691640"/>
            <a:ext cx="2377440" cy="914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500" b="0">
                <a:solidFill>
                  <a:srgbClr val="000000"/>
                </a:solidFill>
                <a:latin typeface="Aptos"/>
              </a:defRPr>
            </a:pPr>
            <a:r>
              <a:t>Patient priority + alerts +</a:t>
            </a:r>
            <a:br/>
            <a:r>
              <a:t>broader resource coordination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1234440"/>
            <a:ext cx="210312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800" b="1">
                <a:solidFill>
                  <a:srgbClr val="10526A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1691640"/>
            <a:ext cx="2468880" cy="1097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500" b="0">
                <a:solidFill>
                  <a:srgbClr val="000000"/>
                </a:solidFill>
                <a:latin typeface="Aptos"/>
              </a:defRPr>
            </a:pPr>
            <a:r>
              <a:t>Risk scoring + smart alarms +</a:t>
            </a:r>
            <a:br/>
            <a:r>
              <a:t>bed recommendation/transfer;</a:t>
            </a:r>
            <a:br/>
            <a:r>
              <a:t>other agents being integrated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43200" y="1828800"/>
            <a:ext cx="411480" cy="411480"/>
          </a:xfrm>
          <a:prstGeom prst="rightArrow">
            <a:avLst/>
          </a:prstGeom>
          <a:solidFill>
            <a:srgbClr val="32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5669280" y="1828800"/>
            <a:ext cx="411480" cy="411480"/>
          </a:xfrm>
          <a:prstGeom prst="rightArrow">
            <a:avLst/>
          </a:prstGeom>
          <a:solidFill>
            <a:srgbClr val="32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8458200" y="1828800"/>
            <a:ext cx="411480" cy="411480"/>
          </a:xfrm>
          <a:prstGeom prst="rightArrow">
            <a:avLst/>
          </a:prstGeom>
          <a:solidFill>
            <a:srgbClr val="32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3375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The base paper's conclusion explicitly identifies emergencies and uncertainty as future research.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WardMind's proposed improvement is not 'another dashboard'; it connects patient urgency to resource-management actions.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Do not claim final multi-agent completion until Staff/Equipment/Coordinator modules are actually integrated.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307843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2C3227-BE1F-CCB1-944E-3AF0A864585E}"/>
              </a:ext>
            </a:extLst>
          </p:cNvPr>
          <p:cNvSpPr txBox="1"/>
          <p:nvPr/>
        </p:nvSpPr>
        <p:spPr>
          <a:xfrm>
            <a:off x="1189705" y="1262017"/>
            <a:ext cx="937997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🤖 Multi-Agent Hospital Coordination</a:t>
            </a:r>
          </a:p>
          <a:p>
            <a:r>
              <a:rPr lang="en-IN" dirty="0"/>
              <a:t>Proposed design uses specialized components/agents for patient priority, beds, staff, equipment and emergency coordination.</a:t>
            </a:r>
          </a:p>
          <a:p>
            <a:endParaRPr lang="en-IN" dirty="0"/>
          </a:p>
          <a:p>
            <a:r>
              <a:rPr lang="en-IN" b="1" dirty="0"/>
              <a:t>🔄 Dynamic Resource Reallocation</a:t>
            </a:r>
          </a:p>
          <a:p>
            <a:r>
              <a:rPr lang="en-IN" dirty="0"/>
              <a:t>Proposed system supports reallocation when patient priority or resource availability changes.</a:t>
            </a:r>
          </a:p>
          <a:p>
            <a:endParaRPr lang="en-IN" dirty="0"/>
          </a:p>
          <a:p>
            <a:r>
              <a:rPr lang="en-IN" b="1" dirty="0"/>
              <a:t>🚨 Intelligent Emergency Coordination</a:t>
            </a:r>
          </a:p>
          <a:p>
            <a:r>
              <a:rPr lang="en-IN" dirty="0"/>
              <a:t>Current implementation supports smart alarms/escalation; broader emergency-agent coordination is the next integration.</a:t>
            </a:r>
          </a:p>
          <a:p>
            <a:endParaRPr lang="en-IN" dirty="0"/>
          </a:p>
          <a:p>
            <a:r>
              <a:rPr lang="en-IN" b="1" dirty="0"/>
              <a:t>📊 AI-Assisted Optimization</a:t>
            </a:r>
          </a:p>
          <a:p>
            <a:r>
              <a:rPr lang="en-IN" dirty="0"/>
              <a:t>Decision-support and allocation logic are intended to reduce waiting, conflicts and inefficient resource use.</a:t>
            </a:r>
          </a:p>
          <a:p>
            <a:endParaRPr lang="en-IN" dirty="0"/>
          </a:p>
          <a:p>
            <a:r>
              <a:rPr lang="en-IN" b="1" dirty="0"/>
              <a:t>✨ Novelty</a:t>
            </a:r>
          </a:p>
          <a:p>
            <a:r>
              <a:rPr lang="en-IN" dirty="0" err="1"/>
              <a:t>WardMind</a:t>
            </a:r>
            <a:r>
              <a:rPr lang="en-IN" dirty="0"/>
              <a:t> AI brings multiple hospital functions together through collaborative AI agents instead of treating resource-management tasks as isolated problems.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526A"/>
                </a:solidFill>
                <a:latin typeface="Aptos Display"/>
              </a:defRPr>
            </a:pPr>
            <a:r>
              <a:t>Overall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051560"/>
            <a:ext cx="2743200" cy="502920"/>
          </a:xfrm>
          <a:prstGeom prst="roundRect">
            <a:avLst/>
          </a:prstGeom>
          <a:solidFill>
            <a:srgbClr val="E5F0F5"/>
          </a:solidFill>
          <a:ln w="19050">
            <a:solidFill>
              <a:srgbClr val="105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Hospital Input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874519"/>
            <a:ext cx="2743200" cy="640080"/>
          </a:xfrm>
          <a:prstGeom prst="roundRect">
            <a:avLst/>
          </a:prstGeom>
          <a:solidFill>
            <a:srgbClr val="E5F0F5"/>
          </a:solidFill>
          <a:ln w="19050">
            <a:solidFill>
              <a:srgbClr val="105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Patient / Triage Agent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Risk + Priority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2788920"/>
            <a:ext cx="2743200" cy="548640"/>
          </a:xfrm>
          <a:prstGeom prst="roundRect">
            <a:avLst/>
          </a:prstGeom>
          <a:solidFill>
            <a:srgbClr val="E5F0F5"/>
          </a:solidFill>
          <a:ln w="19050">
            <a:solidFill>
              <a:srgbClr val="105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Coordinator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2286000" cy="594360"/>
          </a:xfrm>
          <a:prstGeom prst="roundRect">
            <a:avLst/>
          </a:prstGeom>
          <a:solidFill>
            <a:srgbClr val="E5F0F5"/>
          </a:solidFill>
          <a:ln w="19050">
            <a:solidFill>
              <a:srgbClr val="105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Bed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3749039"/>
            <a:ext cx="2286000" cy="594360"/>
          </a:xfrm>
          <a:prstGeom prst="roundRect">
            <a:avLst/>
          </a:prstGeom>
          <a:solidFill>
            <a:srgbClr val="E5F0F5"/>
          </a:solidFill>
          <a:ln w="19050">
            <a:solidFill>
              <a:srgbClr val="105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Staff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3749039"/>
            <a:ext cx="2286000" cy="594360"/>
          </a:xfrm>
          <a:prstGeom prst="roundRect">
            <a:avLst/>
          </a:prstGeom>
          <a:solidFill>
            <a:srgbClr val="E5F0F5"/>
          </a:solidFill>
          <a:ln w="19050">
            <a:solidFill>
              <a:srgbClr val="105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Equipment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4800600"/>
            <a:ext cx="3017520" cy="594360"/>
          </a:xfrm>
          <a:prstGeom prst="roundRect">
            <a:avLst/>
          </a:prstGeom>
          <a:solidFill>
            <a:srgbClr val="E5F0F5"/>
          </a:solidFill>
          <a:ln w="19050">
            <a:solidFill>
              <a:srgbClr val="105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Resource Allocation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5715000"/>
            <a:ext cx="3017520" cy="594360"/>
          </a:xfrm>
          <a:prstGeom prst="roundRect">
            <a:avLst/>
          </a:prstGeom>
          <a:solidFill>
            <a:srgbClr val="E5F0F5"/>
          </a:solidFill>
          <a:ln w="19050">
            <a:solidFill>
              <a:srgbClr val="105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Allocation / Recommendation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+ Smart Alarm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1554480"/>
            <a:ext cx="0" cy="320039"/>
          </a:xfrm>
          <a:prstGeom prst="line">
            <a:avLst/>
          </a:prstGeom>
          <a:ln w="19050">
            <a:solidFill>
              <a:srgbClr val="105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2514599"/>
            <a:ext cx="0" cy="274321"/>
          </a:xfrm>
          <a:prstGeom prst="line">
            <a:avLst/>
          </a:prstGeom>
          <a:ln w="19050">
            <a:solidFill>
              <a:srgbClr val="105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874520" y="3337560"/>
            <a:ext cx="4206240" cy="411479"/>
          </a:xfrm>
          <a:prstGeom prst="line">
            <a:avLst/>
          </a:prstGeom>
          <a:ln w="19050">
            <a:solidFill>
              <a:srgbClr val="105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0760" y="3337560"/>
            <a:ext cx="0" cy="411479"/>
          </a:xfrm>
          <a:prstGeom prst="line">
            <a:avLst/>
          </a:prstGeom>
          <a:ln w="19050">
            <a:solidFill>
              <a:srgbClr val="105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3337560"/>
            <a:ext cx="4206240" cy="411479"/>
          </a:xfrm>
          <a:prstGeom prst="line">
            <a:avLst/>
          </a:prstGeom>
          <a:ln w="19050">
            <a:solidFill>
              <a:srgbClr val="105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874520" y="4343399"/>
            <a:ext cx="4206240" cy="457201"/>
          </a:xfrm>
          <a:prstGeom prst="line">
            <a:avLst/>
          </a:prstGeom>
          <a:ln w="19050">
            <a:solidFill>
              <a:srgbClr val="105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4343399"/>
            <a:ext cx="0" cy="457201"/>
          </a:xfrm>
          <a:prstGeom prst="line">
            <a:avLst/>
          </a:prstGeom>
          <a:ln w="19050">
            <a:solidFill>
              <a:srgbClr val="105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080760" y="4343399"/>
            <a:ext cx="4206240" cy="457201"/>
          </a:xfrm>
          <a:prstGeom prst="line">
            <a:avLst/>
          </a:prstGeom>
          <a:ln w="19050">
            <a:solidFill>
              <a:srgbClr val="105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5394960"/>
            <a:ext cx="0" cy="320040"/>
          </a:xfrm>
          <a:prstGeom prst="line">
            <a:avLst/>
          </a:prstGeom>
          <a:ln w="19050">
            <a:solidFill>
              <a:srgbClr val="105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6355080"/>
            <a:ext cx="1033272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05050"/>
                </a:solidFill>
                <a:latin typeface="Aptos"/>
              </a:defRPr>
            </a:pPr>
            <a:r>
              <a:t>Feedback / reallocation: when patient priority or resource availability changes, the coordinator reevaluates the allocation.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526A"/>
                </a:solidFill>
                <a:latin typeface="Aptos Display"/>
              </a:defRPr>
            </a:pPr>
            <a:r>
              <a:t>Architecture -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Hospital Input Data: patient vitals/status plus current resource availability.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Patient / Triage Agent: evaluates patient condition and produces risk / priority.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Bed Agent: checks bed availability and suitable ward/bed options.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Staff Agent: proposed module for staff availability and workload.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Equipment Agent: proposed module for required medical-equipment availability.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Coordinator Agent: combines patient priority with resource information.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Resource Allocation Engine: selects the feasible resource action/recommendation.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Smart Alarm &amp; Reallocation: alerts urgent cases and reevaluates decisions when conditions change.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526A"/>
                </a:solidFill>
                <a:latin typeface="Aptos Display"/>
              </a:defRPr>
            </a:pPr>
            <a:r>
              <a:t>Working Model / Current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Working web application with Node.js backend and patient/bed data management.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WardMind Rules v1 evaluates patient vitals/status and assigns Low, Moderate, High or Critical risk.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High-risk conditions generate Smart Alarms; unattended alarms can escalate.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Bed management supports recommendation / transfer actions.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Review-II demo flow: Login -&gt; Patient -&gt; Vitals/Status -&gt; Risk/Priority -&gt; Smart Alarm -&gt; Bed Action.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Current model is rules-based decision support; full Staff + Equipment + Coordinator integration is the next implementation 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24128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400" b="1">
                <a:solidFill>
                  <a:srgbClr val="B41E1E"/>
                </a:solidFill>
                <a:latin typeface="Aptos"/>
              </a:defRPr>
            </a:pPr>
            <a:r>
              <a:t>Important: the website is only the interface; show the backend decision/action changing during the demo.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478993" y="0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Implementation Status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491613" y="1199535"/>
            <a:ext cx="10951871" cy="5963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Feasibility</a:t>
            </a:r>
          </a:p>
          <a:p>
            <a:pPr lvl="0"/>
            <a:r>
              <a:rPr lang="en-IN" b="1" dirty="0"/>
              <a:t>Technical:</a:t>
            </a:r>
            <a:r>
              <a:rPr lang="en-IN" dirty="0"/>
              <a:t> AI, Multi-Agent Systems &amp; Microservices</a:t>
            </a:r>
          </a:p>
          <a:p>
            <a:pPr lvl="0"/>
            <a:r>
              <a:rPr lang="en-IN" b="1" dirty="0"/>
              <a:t>Operational:</a:t>
            </a:r>
            <a:r>
              <a:rPr lang="en-IN" dirty="0"/>
              <a:t> Supports hospital resource coordination</a:t>
            </a:r>
          </a:p>
          <a:p>
            <a:pPr lvl="0"/>
            <a:r>
              <a:rPr lang="en-IN" b="1" dirty="0"/>
              <a:t>Scalable:</a:t>
            </a:r>
            <a:r>
              <a:rPr lang="en-IN" dirty="0"/>
              <a:t> Agents/services can be extended independently</a:t>
            </a:r>
          </a:p>
          <a:p>
            <a:pPr lvl="0"/>
            <a:r>
              <a:rPr lang="en-IN" b="1" dirty="0"/>
              <a:t>Data:</a:t>
            </a:r>
            <a:r>
              <a:rPr lang="en-IN" dirty="0"/>
              <a:t> Historical data can support resource planning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IN" b="1" dirty="0"/>
              <a:t>Implementation Status</a:t>
            </a:r>
          </a:p>
          <a:p>
            <a:r>
              <a:rPr lang="en-IN" b="1" dirty="0"/>
              <a:t>Completed – Requirement Analysis</a:t>
            </a:r>
            <a:br>
              <a:rPr lang="en-IN" dirty="0"/>
            </a:br>
            <a:r>
              <a:rPr lang="en-IN" dirty="0"/>
              <a:t>Identify hospital resources, workflows, constraints, and emergency scenarios.</a:t>
            </a:r>
          </a:p>
          <a:p>
            <a:r>
              <a:rPr lang="en-IN" b="1" dirty="0"/>
              <a:t>Completed – System Design</a:t>
            </a:r>
            <a:br>
              <a:rPr lang="en-IN" dirty="0"/>
            </a:br>
            <a:r>
              <a:rPr lang="en-IN" dirty="0" err="1"/>
              <a:t>Design</a:t>
            </a:r>
            <a:r>
              <a:rPr lang="en-IN" dirty="0"/>
              <a:t> the multi-agent architecture and microservice structure.</a:t>
            </a:r>
          </a:p>
          <a:p>
            <a:r>
              <a:rPr lang="en-IN" b="1" dirty="0"/>
              <a:t>Working – Decision Support &amp; Resource Modules</a:t>
            </a:r>
            <a:br>
              <a:rPr lang="en-IN" dirty="0"/>
            </a:br>
            <a:r>
              <a:rPr lang="en-IN" dirty="0"/>
              <a:t>Patient records, risk/priority evaluation, smart alarms, bed management and transfer/recommendation are working.</a:t>
            </a:r>
          </a:p>
          <a:p>
            <a:r>
              <a:rPr lang="en-IN" b="1" dirty="0"/>
              <a:t>In Progress – Multi-Resource Coordination</a:t>
            </a:r>
            <a:br>
              <a:rPr lang="en-IN" dirty="0"/>
            </a:br>
            <a:r>
              <a:rPr lang="en-IN" dirty="0"/>
              <a:t>Integrating Bed, Staff and Equipment decisions through a coordinator.</a:t>
            </a:r>
          </a:p>
          <a:p>
            <a:r>
              <a:rPr lang="en-IN" b="1" dirty="0"/>
              <a:t>Completed – Web Interface</a:t>
            </a:r>
            <a:br>
              <a:rPr lang="en-IN" dirty="0"/>
            </a:br>
            <a:r>
              <a:rPr lang="en-IN" dirty="0"/>
              <a:t>Web interface is used to demonstrate the backend decision-support and resource actions.</a:t>
            </a:r>
          </a:p>
          <a:p>
            <a:r>
              <a:rPr lang="en-IN" b="1" dirty="0"/>
              <a:t>Review-II – Testing &amp; Evaluation</a:t>
            </a:r>
            <a:br>
              <a:rPr lang="en-IN" dirty="0"/>
            </a:br>
            <a:r>
              <a:rPr lang="en-IN" dirty="0"/>
              <a:t>Demonstrate patient risk, alarms/escalation, bed recommendation/transfer, and record observed results.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526A"/>
                </a:solidFill>
                <a:latin typeface="Aptos Display"/>
              </a:defRPr>
            </a:pPr>
            <a:r>
              <a:t>Review-II Execution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Test Case 1 - Normal patient: show calculated risk level and no unnecessary escalation.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Test Case 2 - High/Critical patient: show risk increase and Smart Alarm generation.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Test Case 3 - Unattended alarm: show escalation / priority handling.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Test Case 4 - Bed action: show recommendation, allocation or transfer based on available bed data.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Take screenshots of these four executions and place them here before final submission if time permits.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Do not add fake accuracy percentages. Use only results actually produced by the application.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9A8C-9B92-4D48-A6C8-6870D9F00B9F}" type="datetime3">
              <a:rPr lang="en-US" smtClean="0"/>
              <a:t>21 September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RTOS Project Review-II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16</a:t>
            </a:r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526A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• Wan, F., Wang, K., Wang, T., Qin, H., Fondrevelle, J., &amp; Duclos, A. (2025). Enhancing healthcare resource allocation through large language models. Swarm and Evolutionary Computation, 94, 101859. DOI: 10.1016/j.swevo.2025.101859.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• Utsho et al. (2026). Artificial Intelligence Applications for Hospital Resource Allocation in Emergency Preparedness. Advances in Public Health, 2026, 7200757. DOI: 10.1155/adph/7200757.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• Schäfer et al. (2023). Combining Machine Learning and Optimization for the Operational Patient-Bed Assignment Problem.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• Patient-centered Multi Agent System for Health Care (2015) - standard MAS healthcare literature used in Review-I.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1795</Words>
  <Application>Microsoft Office PowerPoint</Application>
  <PresentationFormat>Widescreen</PresentationFormat>
  <Paragraphs>191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Ch Siddhartha</cp:lastModifiedBy>
  <cp:revision>34</cp:revision>
  <dcterms:created xsi:type="dcterms:W3CDTF">2026-08-08T06:33:56Z</dcterms:created>
  <dcterms:modified xsi:type="dcterms:W3CDTF">2026-09-21T03:04:48Z</dcterms:modified>
</cp:coreProperties>
</file>