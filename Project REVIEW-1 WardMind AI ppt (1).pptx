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E07C8-5E04-443A-976C-7ED8A0394C47}" type="doc">
      <dgm:prSet loTypeId="urn:microsoft.com/office/officeart/2005/8/layout/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BF6BD7A-433A-451E-8C9A-A10B1F4A4B18}">
      <dgm:prSet phldrT="[Text]"/>
      <dgm:spPr/>
      <dgm:t>
        <a:bodyPr/>
        <a:lstStyle/>
        <a:p>
          <a:pPr>
            <a:buNone/>
          </a:pPr>
          <a:r>
            <a:rPr lang="en-IN" dirty="0"/>
            <a:t>Introduction</a:t>
          </a:r>
        </a:p>
      </dgm:t>
    </dgm:pt>
    <dgm:pt modelId="{6AD0C126-0BDB-4AAC-8B74-25D3853DB42E}" type="parTrans" cxnId="{35226B2E-AA5B-4157-84CF-C04860210582}">
      <dgm:prSet/>
      <dgm:spPr/>
      <dgm:t>
        <a:bodyPr/>
        <a:lstStyle/>
        <a:p>
          <a:endParaRPr lang="en-IN"/>
        </a:p>
      </dgm:t>
    </dgm:pt>
    <dgm:pt modelId="{3C3C9D4B-9914-4F95-9756-4CB9D759C199}" type="sibTrans" cxnId="{35226B2E-AA5B-4157-84CF-C04860210582}">
      <dgm:prSet/>
      <dgm:spPr/>
      <dgm:t>
        <a:bodyPr/>
        <a:lstStyle/>
        <a:p>
          <a:endParaRPr lang="en-IN"/>
        </a:p>
      </dgm:t>
    </dgm:pt>
    <dgm:pt modelId="{0C0D5B35-3ADF-4C44-A7B4-BC3A61AE6591}">
      <dgm:prSet phldrT="[Text]"/>
      <dgm:spPr/>
      <dgm:t>
        <a:bodyPr/>
        <a:lstStyle/>
        <a:p>
          <a:pPr>
            <a:buNone/>
          </a:pPr>
          <a:r>
            <a:rPr lang="en-IN"/>
            <a:t>Problem Statement &amp; Objectives</a:t>
          </a:r>
          <a:endParaRPr lang="en-IN" dirty="0"/>
        </a:p>
      </dgm:t>
    </dgm:pt>
    <dgm:pt modelId="{6B465470-099D-44E2-8E0B-80E647EEFB47}" type="parTrans" cxnId="{3F78A242-5EA0-4DF7-90BE-26F567A2A33C}">
      <dgm:prSet/>
      <dgm:spPr/>
      <dgm:t>
        <a:bodyPr/>
        <a:lstStyle/>
        <a:p>
          <a:endParaRPr lang="en-IN"/>
        </a:p>
      </dgm:t>
    </dgm:pt>
    <dgm:pt modelId="{904927FA-29EC-4EE9-9656-BA77BB9570E4}" type="sibTrans" cxnId="{3F78A242-5EA0-4DF7-90BE-26F567A2A33C}">
      <dgm:prSet/>
      <dgm:spPr/>
      <dgm:t>
        <a:bodyPr/>
        <a:lstStyle/>
        <a:p>
          <a:endParaRPr lang="en-IN"/>
        </a:p>
      </dgm:t>
    </dgm:pt>
    <dgm:pt modelId="{8A414BBF-DD20-45ED-B6DC-710AD38AC286}">
      <dgm:prSet phldrT="[Text]"/>
      <dgm:spPr/>
      <dgm:t>
        <a:bodyPr/>
        <a:lstStyle/>
        <a:p>
          <a:pPr>
            <a:buNone/>
          </a:pPr>
          <a:r>
            <a:rPr lang="en-IN"/>
            <a:t>Literature Survey &amp; Research Gap</a:t>
          </a:r>
          <a:endParaRPr lang="en-IN" dirty="0"/>
        </a:p>
      </dgm:t>
    </dgm:pt>
    <dgm:pt modelId="{BAEBB57A-88A9-402E-B1CF-859D32255099}" type="parTrans" cxnId="{EA638BAB-3182-46C4-82ED-C6940DB769E3}">
      <dgm:prSet/>
      <dgm:spPr/>
      <dgm:t>
        <a:bodyPr/>
        <a:lstStyle/>
        <a:p>
          <a:endParaRPr lang="en-IN"/>
        </a:p>
      </dgm:t>
    </dgm:pt>
    <dgm:pt modelId="{C585F71F-4CFF-4460-8D0A-6339A9C98378}" type="sibTrans" cxnId="{EA638BAB-3182-46C4-82ED-C6940DB769E3}">
      <dgm:prSet/>
      <dgm:spPr/>
      <dgm:t>
        <a:bodyPr/>
        <a:lstStyle/>
        <a:p>
          <a:endParaRPr lang="en-IN"/>
        </a:p>
      </dgm:t>
    </dgm:pt>
    <dgm:pt modelId="{7D7F7110-B7A6-4482-B0FC-7840E0F87DB0}">
      <dgm:prSet phldrT="[Text]"/>
      <dgm:spPr/>
      <dgm:t>
        <a:bodyPr/>
        <a:lstStyle/>
        <a:p>
          <a:pPr>
            <a:buNone/>
          </a:pPr>
          <a:r>
            <a:rPr lang="en-IN" dirty="0"/>
            <a:t>Proposed System &amp; Architecture</a:t>
          </a:r>
        </a:p>
      </dgm:t>
    </dgm:pt>
    <dgm:pt modelId="{7700CD36-E95F-4AB2-986B-A8E743048638}" type="parTrans" cxnId="{65FC0D33-D04A-427A-90E7-7369DE05EA84}">
      <dgm:prSet/>
      <dgm:spPr/>
      <dgm:t>
        <a:bodyPr/>
        <a:lstStyle/>
        <a:p>
          <a:endParaRPr lang="en-IN"/>
        </a:p>
      </dgm:t>
    </dgm:pt>
    <dgm:pt modelId="{997A00B2-45B5-43C2-92E2-DC6FFCFAB024}" type="sibTrans" cxnId="{65FC0D33-D04A-427A-90E7-7369DE05EA84}">
      <dgm:prSet/>
      <dgm:spPr/>
      <dgm:t>
        <a:bodyPr/>
        <a:lstStyle/>
        <a:p>
          <a:endParaRPr lang="en-IN"/>
        </a:p>
      </dgm:t>
    </dgm:pt>
    <dgm:pt modelId="{9F100091-6FF3-422A-B507-90F1FEF017E0}">
      <dgm:prSet phldrT="[Text]"/>
      <dgm:spPr/>
      <dgm:t>
        <a:bodyPr/>
        <a:lstStyle/>
        <a:p>
          <a:pPr>
            <a:buNone/>
          </a:pPr>
          <a:r>
            <a:rPr lang="en-IN" dirty="0"/>
            <a:t>Innovation, Feasibility &amp; Project Plan</a:t>
          </a:r>
        </a:p>
      </dgm:t>
    </dgm:pt>
    <dgm:pt modelId="{B60E8FE3-34A0-4C4E-8AA3-BE19EED66B5F}" type="parTrans" cxnId="{328963DB-E6AA-409B-AFB9-DC25CE4B3C06}">
      <dgm:prSet/>
      <dgm:spPr/>
      <dgm:t>
        <a:bodyPr/>
        <a:lstStyle/>
        <a:p>
          <a:endParaRPr lang="en-IN"/>
        </a:p>
      </dgm:t>
    </dgm:pt>
    <dgm:pt modelId="{E6759F19-55F2-4FB8-919B-20CC6DF04739}" type="sibTrans" cxnId="{328963DB-E6AA-409B-AFB9-DC25CE4B3C06}">
      <dgm:prSet/>
      <dgm:spPr/>
      <dgm:t>
        <a:bodyPr/>
        <a:lstStyle/>
        <a:p>
          <a:endParaRPr lang="en-IN"/>
        </a:p>
      </dgm:t>
    </dgm:pt>
    <dgm:pt modelId="{6D9CB8A6-788A-4385-898D-4B016AE9795B}">
      <dgm:prSet phldrT="[Text]"/>
      <dgm:spPr/>
      <dgm:t>
        <a:bodyPr/>
        <a:lstStyle/>
        <a:p>
          <a:pPr>
            <a:buNone/>
          </a:pPr>
          <a:r>
            <a:rPr lang="en-IN" dirty="0"/>
            <a:t>Expected Outcomes &amp; Future Work</a:t>
          </a:r>
        </a:p>
      </dgm:t>
    </dgm:pt>
    <dgm:pt modelId="{7AF97291-9FF3-43EB-95C0-0177115AB9DB}" type="parTrans" cxnId="{22EAD537-E33E-4C0B-A7F7-F22608F4C4B6}">
      <dgm:prSet/>
      <dgm:spPr/>
      <dgm:t>
        <a:bodyPr/>
        <a:lstStyle/>
        <a:p>
          <a:endParaRPr lang="en-IN"/>
        </a:p>
      </dgm:t>
    </dgm:pt>
    <dgm:pt modelId="{C14F003E-AFC3-4DF5-9B9A-D24B4D8F8B11}" type="sibTrans" cxnId="{22EAD537-E33E-4C0B-A7F7-F22608F4C4B6}">
      <dgm:prSet/>
      <dgm:spPr/>
      <dgm:t>
        <a:bodyPr/>
        <a:lstStyle/>
        <a:p>
          <a:endParaRPr lang="en-IN"/>
        </a:p>
      </dgm:t>
    </dgm:pt>
    <dgm:pt modelId="{240E0451-065A-420B-B6C2-AC86DDBFBF7A}" type="pres">
      <dgm:prSet presAssocID="{0A2E07C8-5E04-443A-976C-7ED8A0394C47}" presName="diagram" presStyleCnt="0">
        <dgm:presLayoutVars>
          <dgm:dir/>
          <dgm:resizeHandles val="exact"/>
        </dgm:presLayoutVars>
      </dgm:prSet>
      <dgm:spPr/>
    </dgm:pt>
    <dgm:pt modelId="{BA0C8716-5105-4F1C-A061-E5B410E3E4D6}" type="pres">
      <dgm:prSet presAssocID="{BBF6BD7A-433A-451E-8C9A-A10B1F4A4B18}" presName="node" presStyleLbl="node1" presStyleIdx="0" presStyleCnt="6">
        <dgm:presLayoutVars>
          <dgm:bulletEnabled val="1"/>
        </dgm:presLayoutVars>
      </dgm:prSet>
      <dgm:spPr/>
    </dgm:pt>
    <dgm:pt modelId="{7428F96D-FCD1-4E4C-9873-7B24C484E518}" type="pres">
      <dgm:prSet presAssocID="{3C3C9D4B-9914-4F95-9756-4CB9D759C199}" presName="sibTrans" presStyleLbl="sibTrans2D1" presStyleIdx="0" presStyleCnt="5"/>
      <dgm:spPr/>
    </dgm:pt>
    <dgm:pt modelId="{74546C8E-12EC-4355-AE71-F445AFC6DC43}" type="pres">
      <dgm:prSet presAssocID="{3C3C9D4B-9914-4F95-9756-4CB9D759C199}" presName="connectorText" presStyleLbl="sibTrans2D1" presStyleIdx="0" presStyleCnt="5"/>
      <dgm:spPr/>
    </dgm:pt>
    <dgm:pt modelId="{4BE8E94F-4FE0-4507-80EB-8ADF06E8CC53}" type="pres">
      <dgm:prSet presAssocID="{0C0D5B35-3ADF-4C44-A7B4-BC3A61AE6591}" presName="node" presStyleLbl="node1" presStyleIdx="1" presStyleCnt="6">
        <dgm:presLayoutVars>
          <dgm:bulletEnabled val="1"/>
        </dgm:presLayoutVars>
      </dgm:prSet>
      <dgm:spPr/>
    </dgm:pt>
    <dgm:pt modelId="{0E660BFF-0B65-4144-A0F0-89DB2FA0D5A3}" type="pres">
      <dgm:prSet presAssocID="{904927FA-29EC-4EE9-9656-BA77BB9570E4}" presName="sibTrans" presStyleLbl="sibTrans2D1" presStyleIdx="1" presStyleCnt="5"/>
      <dgm:spPr/>
    </dgm:pt>
    <dgm:pt modelId="{71F7725C-3DFE-4873-8F9E-03BB615237E3}" type="pres">
      <dgm:prSet presAssocID="{904927FA-29EC-4EE9-9656-BA77BB9570E4}" presName="connectorText" presStyleLbl="sibTrans2D1" presStyleIdx="1" presStyleCnt="5"/>
      <dgm:spPr/>
    </dgm:pt>
    <dgm:pt modelId="{96A63B54-FAE5-48CA-B6D6-05B3F9213471}" type="pres">
      <dgm:prSet presAssocID="{8A414BBF-DD20-45ED-B6DC-710AD38AC286}" presName="node" presStyleLbl="node1" presStyleIdx="2" presStyleCnt="6">
        <dgm:presLayoutVars>
          <dgm:bulletEnabled val="1"/>
        </dgm:presLayoutVars>
      </dgm:prSet>
      <dgm:spPr/>
    </dgm:pt>
    <dgm:pt modelId="{661482CF-C96C-4168-82F1-BEF5D08DBB11}" type="pres">
      <dgm:prSet presAssocID="{C585F71F-4CFF-4460-8D0A-6339A9C98378}" presName="sibTrans" presStyleLbl="sibTrans2D1" presStyleIdx="2" presStyleCnt="5"/>
      <dgm:spPr/>
    </dgm:pt>
    <dgm:pt modelId="{D83DFC14-7D31-4902-BDC0-55E77650CDD8}" type="pres">
      <dgm:prSet presAssocID="{C585F71F-4CFF-4460-8D0A-6339A9C98378}" presName="connectorText" presStyleLbl="sibTrans2D1" presStyleIdx="2" presStyleCnt="5"/>
      <dgm:spPr/>
    </dgm:pt>
    <dgm:pt modelId="{7307DC74-C3CF-4661-BC23-3C5990313BF3}" type="pres">
      <dgm:prSet presAssocID="{7D7F7110-B7A6-4482-B0FC-7840E0F87DB0}" presName="node" presStyleLbl="node1" presStyleIdx="3" presStyleCnt="6">
        <dgm:presLayoutVars>
          <dgm:bulletEnabled val="1"/>
        </dgm:presLayoutVars>
      </dgm:prSet>
      <dgm:spPr/>
    </dgm:pt>
    <dgm:pt modelId="{7A337759-38B7-4065-B1C3-48AE5A2E3AE8}" type="pres">
      <dgm:prSet presAssocID="{997A00B2-45B5-43C2-92E2-DC6FFCFAB024}" presName="sibTrans" presStyleLbl="sibTrans2D1" presStyleIdx="3" presStyleCnt="5"/>
      <dgm:spPr/>
    </dgm:pt>
    <dgm:pt modelId="{3F0B2E39-B423-42B7-8E3B-B3E35134DA10}" type="pres">
      <dgm:prSet presAssocID="{997A00B2-45B5-43C2-92E2-DC6FFCFAB024}" presName="connectorText" presStyleLbl="sibTrans2D1" presStyleIdx="3" presStyleCnt="5"/>
      <dgm:spPr/>
    </dgm:pt>
    <dgm:pt modelId="{654A228D-A9E4-45D1-A47C-6B9D2B7E3D34}" type="pres">
      <dgm:prSet presAssocID="{9F100091-6FF3-422A-B507-90F1FEF017E0}" presName="node" presStyleLbl="node1" presStyleIdx="4" presStyleCnt="6">
        <dgm:presLayoutVars>
          <dgm:bulletEnabled val="1"/>
        </dgm:presLayoutVars>
      </dgm:prSet>
      <dgm:spPr/>
    </dgm:pt>
    <dgm:pt modelId="{1E37D163-174D-47D5-9527-857074B33595}" type="pres">
      <dgm:prSet presAssocID="{E6759F19-55F2-4FB8-919B-20CC6DF04739}" presName="sibTrans" presStyleLbl="sibTrans2D1" presStyleIdx="4" presStyleCnt="5"/>
      <dgm:spPr/>
    </dgm:pt>
    <dgm:pt modelId="{112FC624-A9E3-47BC-830E-CB7DC62237E3}" type="pres">
      <dgm:prSet presAssocID="{E6759F19-55F2-4FB8-919B-20CC6DF04739}" presName="connectorText" presStyleLbl="sibTrans2D1" presStyleIdx="4" presStyleCnt="5"/>
      <dgm:spPr/>
    </dgm:pt>
    <dgm:pt modelId="{0DBCD464-773F-42A8-9AD0-51D0E8FEE87A}" type="pres">
      <dgm:prSet presAssocID="{6D9CB8A6-788A-4385-898D-4B016AE9795B}" presName="node" presStyleLbl="node1" presStyleIdx="5" presStyleCnt="6">
        <dgm:presLayoutVars>
          <dgm:bulletEnabled val="1"/>
        </dgm:presLayoutVars>
      </dgm:prSet>
      <dgm:spPr/>
    </dgm:pt>
  </dgm:ptLst>
  <dgm:cxnLst>
    <dgm:cxn modelId="{C6959703-37CB-4E46-9DFF-EB4E08BE5100}" type="presOf" srcId="{BBF6BD7A-433A-451E-8C9A-A10B1F4A4B18}" destId="{BA0C8716-5105-4F1C-A061-E5B410E3E4D6}" srcOrd="0" destOrd="0" presId="urn:microsoft.com/office/officeart/2005/8/layout/process5"/>
    <dgm:cxn modelId="{ACA43825-E2C3-4541-A2FF-F6A037A01213}" type="presOf" srcId="{3C3C9D4B-9914-4F95-9756-4CB9D759C199}" destId="{7428F96D-FCD1-4E4C-9873-7B24C484E518}" srcOrd="0" destOrd="0" presId="urn:microsoft.com/office/officeart/2005/8/layout/process5"/>
    <dgm:cxn modelId="{35226B2E-AA5B-4157-84CF-C04860210582}" srcId="{0A2E07C8-5E04-443A-976C-7ED8A0394C47}" destId="{BBF6BD7A-433A-451E-8C9A-A10B1F4A4B18}" srcOrd="0" destOrd="0" parTransId="{6AD0C126-0BDB-4AAC-8B74-25D3853DB42E}" sibTransId="{3C3C9D4B-9914-4F95-9756-4CB9D759C199}"/>
    <dgm:cxn modelId="{65FC0D33-D04A-427A-90E7-7369DE05EA84}" srcId="{0A2E07C8-5E04-443A-976C-7ED8A0394C47}" destId="{7D7F7110-B7A6-4482-B0FC-7840E0F87DB0}" srcOrd="3" destOrd="0" parTransId="{7700CD36-E95F-4AB2-986B-A8E743048638}" sibTransId="{997A00B2-45B5-43C2-92E2-DC6FFCFAB024}"/>
    <dgm:cxn modelId="{22EAD537-E33E-4C0B-A7F7-F22608F4C4B6}" srcId="{0A2E07C8-5E04-443A-976C-7ED8A0394C47}" destId="{6D9CB8A6-788A-4385-898D-4B016AE9795B}" srcOrd="5" destOrd="0" parTransId="{7AF97291-9FF3-43EB-95C0-0177115AB9DB}" sibTransId="{C14F003E-AFC3-4DF5-9B9A-D24B4D8F8B11}"/>
    <dgm:cxn modelId="{D47B603D-D6B3-4BAF-8A94-E1E906A271F4}" type="presOf" srcId="{8A414BBF-DD20-45ED-B6DC-710AD38AC286}" destId="{96A63B54-FAE5-48CA-B6D6-05B3F9213471}" srcOrd="0" destOrd="0" presId="urn:microsoft.com/office/officeart/2005/8/layout/process5"/>
    <dgm:cxn modelId="{B229F45F-1B0E-4A8E-B28C-68A66FDDB019}" type="presOf" srcId="{E6759F19-55F2-4FB8-919B-20CC6DF04739}" destId="{112FC624-A9E3-47BC-830E-CB7DC62237E3}" srcOrd="1" destOrd="0" presId="urn:microsoft.com/office/officeart/2005/8/layout/process5"/>
    <dgm:cxn modelId="{3F78A242-5EA0-4DF7-90BE-26F567A2A33C}" srcId="{0A2E07C8-5E04-443A-976C-7ED8A0394C47}" destId="{0C0D5B35-3ADF-4C44-A7B4-BC3A61AE6591}" srcOrd="1" destOrd="0" parTransId="{6B465470-099D-44E2-8E0B-80E647EEFB47}" sibTransId="{904927FA-29EC-4EE9-9656-BA77BB9570E4}"/>
    <dgm:cxn modelId="{34C18768-A2F8-4DE7-95C1-7CD3CF342BCE}" type="presOf" srcId="{0A2E07C8-5E04-443A-976C-7ED8A0394C47}" destId="{240E0451-065A-420B-B6C2-AC86DDBFBF7A}" srcOrd="0" destOrd="0" presId="urn:microsoft.com/office/officeart/2005/8/layout/process5"/>
    <dgm:cxn modelId="{DF708F6A-B7DD-42BB-BBDE-9ED3A1E2E304}" type="presOf" srcId="{904927FA-29EC-4EE9-9656-BA77BB9570E4}" destId="{0E660BFF-0B65-4144-A0F0-89DB2FA0D5A3}" srcOrd="0" destOrd="0" presId="urn:microsoft.com/office/officeart/2005/8/layout/process5"/>
    <dgm:cxn modelId="{3EF3BB6C-0909-4645-9111-474E9CAC3FE0}" type="presOf" srcId="{997A00B2-45B5-43C2-92E2-DC6FFCFAB024}" destId="{3F0B2E39-B423-42B7-8E3B-B3E35134DA10}" srcOrd="1" destOrd="0" presId="urn:microsoft.com/office/officeart/2005/8/layout/process5"/>
    <dgm:cxn modelId="{367BC056-48C7-4BBA-9F0A-98E5A4D8878C}" type="presOf" srcId="{997A00B2-45B5-43C2-92E2-DC6FFCFAB024}" destId="{7A337759-38B7-4065-B1C3-48AE5A2E3AE8}" srcOrd="0" destOrd="0" presId="urn:microsoft.com/office/officeart/2005/8/layout/process5"/>
    <dgm:cxn modelId="{FBC60B77-E02D-4704-97B1-B41C294070C2}" type="presOf" srcId="{3C3C9D4B-9914-4F95-9756-4CB9D759C199}" destId="{74546C8E-12EC-4355-AE71-F445AFC6DC43}" srcOrd="1" destOrd="0" presId="urn:microsoft.com/office/officeart/2005/8/layout/process5"/>
    <dgm:cxn modelId="{12DB2E7E-FD37-4130-A4AC-98A86653506F}" type="presOf" srcId="{E6759F19-55F2-4FB8-919B-20CC6DF04739}" destId="{1E37D163-174D-47D5-9527-857074B33595}" srcOrd="0" destOrd="0" presId="urn:microsoft.com/office/officeart/2005/8/layout/process5"/>
    <dgm:cxn modelId="{EA638BAB-3182-46C4-82ED-C6940DB769E3}" srcId="{0A2E07C8-5E04-443A-976C-7ED8A0394C47}" destId="{8A414BBF-DD20-45ED-B6DC-710AD38AC286}" srcOrd="2" destOrd="0" parTransId="{BAEBB57A-88A9-402E-B1CF-859D32255099}" sibTransId="{C585F71F-4CFF-4460-8D0A-6339A9C98378}"/>
    <dgm:cxn modelId="{0DD541BA-13E3-4DB6-B569-7C5AB6936209}" type="presOf" srcId="{C585F71F-4CFF-4460-8D0A-6339A9C98378}" destId="{661482CF-C96C-4168-82F1-BEF5D08DBB11}" srcOrd="0" destOrd="0" presId="urn:microsoft.com/office/officeart/2005/8/layout/process5"/>
    <dgm:cxn modelId="{530FFFD1-9010-4618-AFC3-905E1795BDF7}" type="presOf" srcId="{0C0D5B35-3ADF-4C44-A7B4-BC3A61AE6591}" destId="{4BE8E94F-4FE0-4507-80EB-8ADF06E8CC53}" srcOrd="0" destOrd="0" presId="urn:microsoft.com/office/officeart/2005/8/layout/process5"/>
    <dgm:cxn modelId="{9163BDD6-E8E1-4A97-9441-B71B68FFC4E4}" type="presOf" srcId="{904927FA-29EC-4EE9-9656-BA77BB9570E4}" destId="{71F7725C-3DFE-4873-8F9E-03BB615237E3}" srcOrd="1" destOrd="0" presId="urn:microsoft.com/office/officeart/2005/8/layout/process5"/>
    <dgm:cxn modelId="{328963DB-E6AA-409B-AFB9-DC25CE4B3C06}" srcId="{0A2E07C8-5E04-443A-976C-7ED8A0394C47}" destId="{9F100091-6FF3-422A-B507-90F1FEF017E0}" srcOrd="4" destOrd="0" parTransId="{B60E8FE3-34A0-4C4E-8AA3-BE19EED66B5F}" sibTransId="{E6759F19-55F2-4FB8-919B-20CC6DF04739}"/>
    <dgm:cxn modelId="{513A82DF-55C0-4AE3-A21A-B9DE77ECCF5D}" type="presOf" srcId="{C585F71F-4CFF-4460-8D0A-6339A9C98378}" destId="{D83DFC14-7D31-4902-BDC0-55E77650CDD8}" srcOrd="1" destOrd="0" presId="urn:microsoft.com/office/officeart/2005/8/layout/process5"/>
    <dgm:cxn modelId="{6B7978E0-26E7-4E13-A935-9DA51B0E447B}" type="presOf" srcId="{7D7F7110-B7A6-4482-B0FC-7840E0F87DB0}" destId="{7307DC74-C3CF-4661-BC23-3C5990313BF3}" srcOrd="0" destOrd="0" presId="urn:microsoft.com/office/officeart/2005/8/layout/process5"/>
    <dgm:cxn modelId="{0F12A5E9-14E7-4EEB-85CE-EEF9E972F43F}" type="presOf" srcId="{9F100091-6FF3-422A-B507-90F1FEF017E0}" destId="{654A228D-A9E4-45D1-A47C-6B9D2B7E3D34}" srcOrd="0" destOrd="0" presId="urn:microsoft.com/office/officeart/2005/8/layout/process5"/>
    <dgm:cxn modelId="{2886E5F1-447D-43CA-B3E1-C48AFEB7F75C}" type="presOf" srcId="{6D9CB8A6-788A-4385-898D-4B016AE9795B}" destId="{0DBCD464-773F-42A8-9AD0-51D0E8FEE87A}" srcOrd="0" destOrd="0" presId="urn:microsoft.com/office/officeart/2005/8/layout/process5"/>
    <dgm:cxn modelId="{A0BB33CA-D319-4CA2-8A92-371085183467}" type="presParOf" srcId="{240E0451-065A-420B-B6C2-AC86DDBFBF7A}" destId="{BA0C8716-5105-4F1C-A061-E5B410E3E4D6}" srcOrd="0" destOrd="0" presId="urn:microsoft.com/office/officeart/2005/8/layout/process5"/>
    <dgm:cxn modelId="{2B962C8E-CB06-475F-8844-025FEB4784C8}" type="presParOf" srcId="{240E0451-065A-420B-B6C2-AC86DDBFBF7A}" destId="{7428F96D-FCD1-4E4C-9873-7B24C484E518}" srcOrd="1" destOrd="0" presId="urn:microsoft.com/office/officeart/2005/8/layout/process5"/>
    <dgm:cxn modelId="{2678B27E-E139-4D35-A2E0-AEC3EDE92720}" type="presParOf" srcId="{7428F96D-FCD1-4E4C-9873-7B24C484E518}" destId="{74546C8E-12EC-4355-AE71-F445AFC6DC43}" srcOrd="0" destOrd="0" presId="urn:microsoft.com/office/officeart/2005/8/layout/process5"/>
    <dgm:cxn modelId="{B9D588E3-E59A-4A01-BFE9-A4AF756D6AFF}" type="presParOf" srcId="{240E0451-065A-420B-B6C2-AC86DDBFBF7A}" destId="{4BE8E94F-4FE0-4507-80EB-8ADF06E8CC53}" srcOrd="2" destOrd="0" presId="urn:microsoft.com/office/officeart/2005/8/layout/process5"/>
    <dgm:cxn modelId="{4AEF0962-48AA-467F-85F1-9F182275E6A3}" type="presParOf" srcId="{240E0451-065A-420B-B6C2-AC86DDBFBF7A}" destId="{0E660BFF-0B65-4144-A0F0-89DB2FA0D5A3}" srcOrd="3" destOrd="0" presId="urn:microsoft.com/office/officeart/2005/8/layout/process5"/>
    <dgm:cxn modelId="{4D40F49F-0A61-4DF4-A74A-181ADBDDDB5E}" type="presParOf" srcId="{0E660BFF-0B65-4144-A0F0-89DB2FA0D5A3}" destId="{71F7725C-3DFE-4873-8F9E-03BB615237E3}" srcOrd="0" destOrd="0" presId="urn:microsoft.com/office/officeart/2005/8/layout/process5"/>
    <dgm:cxn modelId="{4715DA41-3290-4529-94FB-2DDF5624E5C3}" type="presParOf" srcId="{240E0451-065A-420B-B6C2-AC86DDBFBF7A}" destId="{96A63B54-FAE5-48CA-B6D6-05B3F9213471}" srcOrd="4" destOrd="0" presId="urn:microsoft.com/office/officeart/2005/8/layout/process5"/>
    <dgm:cxn modelId="{07A62C0D-B059-4EAA-B632-A31C3A5897C0}" type="presParOf" srcId="{240E0451-065A-420B-B6C2-AC86DDBFBF7A}" destId="{661482CF-C96C-4168-82F1-BEF5D08DBB11}" srcOrd="5" destOrd="0" presId="urn:microsoft.com/office/officeart/2005/8/layout/process5"/>
    <dgm:cxn modelId="{9B847AC3-2A81-41C4-895C-0C7FC86B4F70}" type="presParOf" srcId="{661482CF-C96C-4168-82F1-BEF5D08DBB11}" destId="{D83DFC14-7D31-4902-BDC0-55E77650CDD8}" srcOrd="0" destOrd="0" presId="urn:microsoft.com/office/officeart/2005/8/layout/process5"/>
    <dgm:cxn modelId="{A59CA480-0E5E-481B-8E45-D59EC014F262}" type="presParOf" srcId="{240E0451-065A-420B-B6C2-AC86DDBFBF7A}" destId="{7307DC74-C3CF-4661-BC23-3C5990313BF3}" srcOrd="6" destOrd="0" presId="urn:microsoft.com/office/officeart/2005/8/layout/process5"/>
    <dgm:cxn modelId="{7FF93408-6F32-4651-BACA-617B851AA7F8}" type="presParOf" srcId="{240E0451-065A-420B-B6C2-AC86DDBFBF7A}" destId="{7A337759-38B7-4065-B1C3-48AE5A2E3AE8}" srcOrd="7" destOrd="0" presId="urn:microsoft.com/office/officeart/2005/8/layout/process5"/>
    <dgm:cxn modelId="{E24E9B71-563C-479C-B7FD-F3060DA40B2E}" type="presParOf" srcId="{7A337759-38B7-4065-B1C3-48AE5A2E3AE8}" destId="{3F0B2E39-B423-42B7-8E3B-B3E35134DA10}" srcOrd="0" destOrd="0" presId="urn:microsoft.com/office/officeart/2005/8/layout/process5"/>
    <dgm:cxn modelId="{70F96DD1-8342-4E34-9414-3A41AB37E064}" type="presParOf" srcId="{240E0451-065A-420B-B6C2-AC86DDBFBF7A}" destId="{654A228D-A9E4-45D1-A47C-6B9D2B7E3D34}" srcOrd="8" destOrd="0" presId="urn:microsoft.com/office/officeart/2005/8/layout/process5"/>
    <dgm:cxn modelId="{0F5D7C6E-A18B-4FA7-9BE1-9BE39C5F9E48}" type="presParOf" srcId="{240E0451-065A-420B-B6C2-AC86DDBFBF7A}" destId="{1E37D163-174D-47D5-9527-857074B33595}" srcOrd="9" destOrd="0" presId="urn:microsoft.com/office/officeart/2005/8/layout/process5"/>
    <dgm:cxn modelId="{09E8A65E-5885-446A-BA04-979DDF168281}" type="presParOf" srcId="{1E37D163-174D-47D5-9527-857074B33595}" destId="{112FC624-A9E3-47BC-830E-CB7DC62237E3}" srcOrd="0" destOrd="0" presId="urn:microsoft.com/office/officeart/2005/8/layout/process5"/>
    <dgm:cxn modelId="{8FA4BDC4-52A4-4D0D-9929-3DA497C2CE66}" type="presParOf" srcId="{240E0451-065A-420B-B6C2-AC86DDBFBF7A}" destId="{0DBCD464-773F-42A8-9AD0-51D0E8FEE87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C8716-5105-4F1C-A061-E5B410E3E4D6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Introduction</a:t>
          </a:r>
        </a:p>
      </dsp:txBody>
      <dsp:txXfrm>
        <a:off x="44665" y="1038705"/>
        <a:ext cx="2060143" cy="1206068"/>
      </dsp:txXfrm>
    </dsp:sp>
    <dsp:sp modelId="{7428F96D-FCD1-4E4C-9873-7B24C484E518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2330227" y="1482881"/>
        <a:ext cx="316861" cy="317716"/>
      </dsp:txXfrm>
    </dsp:sp>
    <dsp:sp modelId="{4BE8E94F-4FE0-4507-80EB-8ADF06E8CC53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Problem Statement &amp; Objectives</a:t>
          </a:r>
          <a:endParaRPr lang="en-IN" sz="2400" kern="1200" dirty="0"/>
        </a:p>
      </dsp:txBody>
      <dsp:txXfrm>
        <a:off x="3033928" y="1038705"/>
        <a:ext cx="2060143" cy="1206068"/>
      </dsp:txXfrm>
    </dsp:sp>
    <dsp:sp modelId="{0E660BFF-0B65-4144-A0F0-89DB2FA0D5A3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319490" y="1482881"/>
        <a:ext cx="316861" cy="317716"/>
      </dsp:txXfrm>
    </dsp:sp>
    <dsp:sp modelId="{96A63B54-FAE5-48CA-B6D6-05B3F9213471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Literature Survey &amp; Research Gap</a:t>
          </a:r>
          <a:endParaRPr lang="en-IN" sz="2400" kern="1200" dirty="0"/>
        </a:p>
      </dsp:txBody>
      <dsp:txXfrm>
        <a:off x="6023190" y="1038705"/>
        <a:ext cx="2060143" cy="1206068"/>
      </dsp:txXfrm>
    </dsp:sp>
    <dsp:sp modelId="{661482CF-C96C-4168-82F1-BEF5D08DBB11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6894404" y="2470192"/>
        <a:ext cx="317716" cy="316861"/>
      </dsp:txXfrm>
    </dsp:sp>
    <dsp:sp modelId="{7307DC74-C3CF-4661-BC23-3C5990313BF3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Proposed System &amp; Architecture</a:t>
          </a:r>
        </a:p>
      </dsp:txBody>
      <dsp:txXfrm>
        <a:off x="6023190" y="3173893"/>
        <a:ext cx="2060143" cy="1206068"/>
      </dsp:txXfrm>
    </dsp:sp>
    <dsp:sp modelId="{7A337759-38B7-4065-B1C3-48AE5A2E3AE8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5480910" y="3618068"/>
        <a:ext cx="316861" cy="317716"/>
      </dsp:txXfrm>
    </dsp:sp>
    <dsp:sp modelId="{654A228D-A9E4-45D1-A47C-6B9D2B7E3D34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Innovation, Feasibility &amp; Project Plan</a:t>
          </a:r>
        </a:p>
      </dsp:txBody>
      <dsp:txXfrm>
        <a:off x="3033928" y="3173892"/>
        <a:ext cx="2060143" cy="1206068"/>
      </dsp:txXfrm>
    </dsp:sp>
    <dsp:sp modelId="{1E37D163-174D-47D5-9527-857074B33595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2491648" y="3618068"/>
        <a:ext cx="316861" cy="317716"/>
      </dsp:txXfrm>
    </dsp:sp>
    <dsp:sp modelId="{0DBCD464-773F-42A8-9AD0-51D0E8FEE87A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Expected Outcomes &amp; Future Work</a:t>
          </a:r>
        </a:p>
      </dsp:txBody>
      <dsp:txXfrm>
        <a:off x="44665" y="3173892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172354"/>
              </p:ext>
            </p:extLst>
          </p:nvPr>
        </p:nvGraphicFramePr>
        <p:xfrm>
          <a:off x="8193271" y="4898509"/>
          <a:ext cx="3702050" cy="1242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SUNKARA NIKHILEASH – 2420030596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SIDDHARTHA CHEEKATI –  2420090015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RAMATEERTHAM RAHUL – 2420090043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18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WardMind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AI: Autonomous Hospital Resource Allocation Through Multi-Agent Clinical Coordination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D3D81AF-8345-2F03-1000-FEF4F4152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7595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465006" y="311275"/>
            <a:ext cx="8367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78E8C-9D25-C1A6-FBA9-7EB8684F72EF}"/>
              </a:ext>
            </a:extLst>
          </p:cNvPr>
          <p:cNvSpPr txBox="1"/>
          <p:nvPr/>
        </p:nvSpPr>
        <p:spPr>
          <a:xfrm>
            <a:off x="1248698" y="1524001"/>
            <a:ext cx="953729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Hospitals operate in highly dynamic environments where patient arrivals, emergency cases, bed availability, staff workload, medical equipment, diagnostic facilities, and operating rooms change continuously.</a:t>
            </a:r>
          </a:p>
          <a:p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coordination and fixed schedules can lead to </a:t>
            </a:r>
            <a:r>
              <a:rPr lang="en-IN" sz="2000" b="1" dirty="0"/>
              <a:t>delays and resource conflicts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Limited bed availability can contribute to </a:t>
            </a:r>
            <a:r>
              <a:rPr lang="en-IN" sz="2000" b="1" dirty="0"/>
              <a:t>overcrowding and inefficient allocation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Changing staff workloads can make </a:t>
            </a:r>
            <a:r>
              <a:rPr lang="en-IN" sz="2000" b="1" dirty="0"/>
              <a:t>static scheduling ineffective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Emergency cases require </a:t>
            </a:r>
            <a:r>
              <a:rPr lang="en-IN" sz="2000" b="1" dirty="0"/>
              <a:t>fast coordination of multiple hospital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Unavailable resources may require </a:t>
            </a:r>
            <a:r>
              <a:rPr lang="en-IN" sz="2000" b="1" dirty="0"/>
              <a:t>quick identification of alternative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r>
              <a:rPr lang="en-IN" sz="2000" dirty="0"/>
              <a:t>Therefore, there is a need for an adaptive and intelligent system that can dynamically coordinate and allocate hospital resources based on changing conditions.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189703" y="469169"/>
            <a:ext cx="9301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2958E-5A9F-BA7C-BF0F-1F4745BEC07B}"/>
              </a:ext>
            </a:extLst>
          </p:cNvPr>
          <p:cNvSpPr txBox="1"/>
          <p:nvPr/>
        </p:nvSpPr>
        <p:spPr>
          <a:xfrm>
            <a:off x="1465006" y="1661651"/>
            <a:ext cx="96159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an </a:t>
            </a:r>
            <a:r>
              <a:rPr lang="en-IN" sz="2000" b="1" dirty="0"/>
              <a:t>intelligent hospital resource-allocation framework</a:t>
            </a:r>
            <a:r>
              <a:rPr lang="en-IN" sz="2000" dirty="0"/>
              <a:t> using AI and Multi-Agent Systems.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enable </a:t>
            </a:r>
            <a:r>
              <a:rPr lang="en-IN" sz="2000" b="1" dirty="0"/>
              <a:t>dynamic allocation of hospital resources</a:t>
            </a:r>
            <a:r>
              <a:rPr lang="en-IN" sz="2000" dirty="0"/>
              <a:t> based on patient priority, severity, and resource availability.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allow specialized AI agents to </a:t>
            </a:r>
            <a:r>
              <a:rPr lang="en-IN" sz="2000" b="1" dirty="0"/>
              <a:t>communicate and collaborate</a:t>
            </a:r>
            <a:r>
              <a:rPr lang="en-IN" sz="2000" dirty="0"/>
              <a:t> across different hospital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</a:t>
            </a:r>
            <a:r>
              <a:rPr lang="en-IN" sz="2000" b="1" dirty="0"/>
              <a:t>faster response to emergency situations</a:t>
            </a:r>
            <a:r>
              <a:rPr lang="en-IN" sz="2000" dirty="0"/>
              <a:t> through coordinated resource allocation.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minimize </a:t>
            </a:r>
            <a:r>
              <a:rPr lang="en-IN" sz="2000" b="1" dirty="0"/>
              <a:t>patient waiting time and resource conflicts</a:t>
            </a:r>
            <a:r>
              <a:rPr lang="en-IN" sz="2000" dirty="0"/>
              <a:t> while balancing staff workload.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improve the overall </a:t>
            </a:r>
            <a:r>
              <a:rPr lang="en-IN" sz="2000" b="1" dirty="0"/>
              <a:t>utilization of hospital beds, staff, equipment, and clinical facilities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686979"/>
              </p:ext>
            </p:extLst>
          </p:nvPr>
        </p:nvGraphicFramePr>
        <p:xfrm>
          <a:off x="274646" y="1093315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Schäfer et al.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Combining Machine Learning and Optimization for the Operational Patient-Bed Assignment Problem</a:t>
                      </a:r>
                      <a:r>
                        <a:rPr lang="en-IN" sz="1400" dirty="0"/>
                        <a:t> (2023)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Machine Learning for forecasting emergency patient arrivals + optimization-based bed assignment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Combining ML forecasting with optimization improved hospital bed-assignment decisions and helped handle uncertainty in emergency arrivals.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</a:t>
                      </a:r>
                      <a:r>
                        <a:rPr lang="en-IN" sz="1400" b="1" dirty="0"/>
                        <a:t>patient-bed assignment</a:t>
                      </a:r>
                      <a:r>
                        <a:rPr lang="en-IN" sz="1400" dirty="0"/>
                        <a:t> rather than coordination of multiple hospital resources.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D. V. et al.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Patient-</a:t>
                      </a:r>
                      <a:r>
                        <a:rPr lang="en-IN" sz="1400" b="1" dirty="0" err="1"/>
                        <a:t>centered</a:t>
                      </a:r>
                      <a:r>
                        <a:rPr lang="en-IN" sz="1400" b="1" dirty="0"/>
                        <a:t> Multi Agent System for Health Care</a:t>
                      </a:r>
                      <a:r>
                        <a:rPr lang="en-IN" sz="1400" dirty="0"/>
                        <a:t> (2015)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Multi-Agent System for planning and controlling patient flow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how multiple agents can support patient-flow management, workload balancing and resource utilization in healthcare.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patient flow and decision support rather than a complete hospital-wide resource allocation system.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Cincar</a:t>
                      </a:r>
                      <a:r>
                        <a:rPr lang="en-IN" sz="1400" dirty="0"/>
                        <a:t> &amp; </a:t>
                      </a:r>
                      <a:r>
                        <a:rPr lang="en-IN" sz="1400" dirty="0" err="1"/>
                        <a:t>Ivaşcu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Artificial Intelligence-Driven Multi-Agent System for Enhanced Radiology Workflow and Decision Support</a:t>
                      </a:r>
                      <a:r>
                        <a:rPr lang="en-IN" sz="1400" dirty="0"/>
                        <a:t> (2025)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AI-driven Multi-Agent System for patient scheduling, resource allocation and radiology workflow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Shows that collaborating intelligent agents can dynamically coordinate healthcare workflows and medical resources.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Focused primarily on </a:t>
                      </a:r>
                      <a:r>
                        <a:rPr lang="en-IN" sz="1400" b="1" dirty="0"/>
                        <a:t>radiology services</a:t>
                      </a:r>
                      <a:r>
                        <a:rPr lang="en-IN" sz="1400" dirty="0"/>
                        <a:t>, leaving scope for broader hospital-wide coordination.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18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29DC6A-A98C-9F49-2F5E-C4D9FD93081B}"/>
              </a:ext>
            </a:extLst>
          </p:cNvPr>
          <p:cNvSpPr txBox="1"/>
          <p:nvPr/>
        </p:nvSpPr>
        <p:spPr>
          <a:xfrm>
            <a:off x="1455174" y="1042219"/>
            <a:ext cx="92816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Existing Systems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Most existing solutions focus on </a:t>
            </a:r>
            <a:r>
              <a:rPr lang="en-IN" b="1" dirty="0"/>
              <a:t>specific hospital functions</a:t>
            </a:r>
            <a:r>
              <a:rPr lang="en-IN" dirty="0"/>
              <a:t> such as bed allocation, patient flow, or individual departments.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Many approaches address </a:t>
            </a:r>
            <a:r>
              <a:rPr lang="en-IN" b="1" dirty="0"/>
              <a:t>resource allocation as an isolated problem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systems may not provide </a:t>
            </a:r>
            <a:r>
              <a:rPr lang="en-IN" b="1" dirty="0"/>
              <a:t>continuous coordination between multiple hospital resources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focus on adapting resource allocation when </a:t>
            </a:r>
            <a:r>
              <a:rPr lang="en-IN" b="1" dirty="0"/>
              <a:t>emergency conditions or resource availability change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Identified Research Gap</a:t>
            </a:r>
          </a:p>
          <a:p>
            <a:r>
              <a:rPr lang="en-IN" dirty="0"/>
              <a:t>Lack of an integrated, adaptive and collaborative system that can coordinate multiple hospital resources through communicating AI agents.</a:t>
            </a:r>
          </a:p>
          <a:p>
            <a:endParaRPr lang="en-IN" dirty="0"/>
          </a:p>
          <a:p>
            <a:r>
              <a:rPr lang="en-IN" b="1" dirty="0"/>
              <a:t>Proposed Direction – </a:t>
            </a:r>
            <a:r>
              <a:rPr lang="en-IN" b="1" dirty="0" err="1"/>
              <a:t>WardMind</a:t>
            </a:r>
            <a:r>
              <a:rPr lang="en-IN" b="1" dirty="0"/>
              <a:t> AI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specialized AI agents</a:t>
            </a:r>
            <a:r>
              <a:rPr lang="en-IN" dirty="0"/>
              <a:t> for different hospital functions.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Enables agents to </a:t>
            </a:r>
            <a:r>
              <a:rPr lang="en-IN" b="1" dirty="0"/>
              <a:t>communicate and collaborate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Dynamically reallocates resources based on </a:t>
            </a:r>
            <a:r>
              <a:rPr lang="en-IN" b="1" dirty="0"/>
              <a:t>patient priority, resource availability and emergency conditions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a </a:t>
            </a:r>
            <a:r>
              <a:rPr lang="en-IN" b="1" dirty="0"/>
              <a:t>unified approach to hospital-wide resource coordination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307843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2C3227-BE1F-CCB1-944E-3AF0A864585E}"/>
              </a:ext>
            </a:extLst>
          </p:cNvPr>
          <p:cNvSpPr txBox="1"/>
          <p:nvPr/>
        </p:nvSpPr>
        <p:spPr>
          <a:xfrm>
            <a:off x="1189705" y="1262017"/>
            <a:ext cx="93799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🤖 Multi-Agent Hospital Coordination</a:t>
            </a:r>
          </a:p>
          <a:p>
            <a:r>
              <a:rPr lang="en-IN" dirty="0"/>
              <a:t>Uses multiple specialized AI agents for patient management, bed allocation, staff scheduling, emergency response, diagnostics, operating rooms, and medical equipment.</a:t>
            </a:r>
          </a:p>
          <a:p>
            <a:endParaRPr lang="en-IN" dirty="0"/>
          </a:p>
          <a:p>
            <a:r>
              <a:rPr lang="en-IN" b="1" dirty="0"/>
              <a:t>🔄 Dynamic Resource Reallocation</a:t>
            </a:r>
          </a:p>
          <a:p>
            <a:r>
              <a:rPr lang="en-IN" dirty="0"/>
              <a:t>The system can adapt existing allocations when beds, staff, equipment, or patient priorities change.</a:t>
            </a:r>
          </a:p>
          <a:p>
            <a:endParaRPr lang="en-IN" dirty="0"/>
          </a:p>
          <a:p>
            <a:r>
              <a:rPr lang="en-IN" b="1" dirty="0"/>
              <a:t>🚨 Intelligent Emergency Coordination</a:t>
            </a:r>
          </a:p>
          <a:p>
            <a:r>
              <a:rPr lang="en-IN" dirty="0"/>
              <a:t>During emergencies, the Emergency Agent communicates with other agents to quickly identify and coordinate the resources required for treatment.</a:t>
            </a:r>
          </a:p>
          <a:p>
            <a:endParaRPr lang="en-IN" dirty="0"/>
          </a:p>
          <a:p>
            <a:r>
              <a:rPr lang="en-IN" b="1" dirty="0"/>
              <a:t>📊 AI-Assisted Optimization</a:t>
            </a:r>
          </a:p>
          <a:p>
            <a:r>
              <a:rPr lang="en-IN" dirty="0"/>
              <a:t>AI-based optimization can help reduce patient waiting time, balance staff workload, minimize resource conflicts, and improve overall resource utilization.</a:t>
            </a:r>
          </a:p>
          <a:p>
            <a:endParaRPr lang="en-IN" dirty="0"/>
          </a:p>
          <a:p>
            <a:r>
              <a:rPr lang="en-IN" b="1" dirty="0"/>
              <a:t>✨ Novelty</a:t>
            </a:r>
          </a:p>
          <a:p>
            <a:r>
              <a:rPr lang="en-IN" dirty="0" err="1"/>
              <a:t>WardMind</a:t>
            </a:r>
            <a:r>
              <a:rPr lang="en-IN" dirty="0"/>
              <a:t> AI brings multiple hospital functions together through collaborative AI agents instead of treating resource-management tasks as isolated problems.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56621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922968" y="976493"/>
            <a:ext cx="1052051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Feasibility</a:t>
            </a:r>
          </a:p>
          <a:p>
            <a:pPr lvl="0"/>
            <a:r>
              <a:rPr lang="en-IN" b="1" dirty="0"/>
              <a:t>Technical:</a:t>
            </a:r>
            <a:r>
              <a:rPr lang="en-IN" dirty="0"/>
              <a:t> AI, Multi-Agent Systems &amp; Microservices</a:t>
            </a:r>
          </a:p>
          <a:p>
            <a:pPr lvl="0"/>
            <a:r>
              <a:rPr lang="en-IN" b="1" dirty="0"/>
              <a:t>Operational:</a:t>
            </a:r>
            <a:r>
              <a:rPr lang="en-IN" dirty="0"/>
              <a:t> Supports hospital resource coordination</a:t>
            </a:r>
          </a:p>
          <a:p>
            <a:pPr lvl="0"/>
            <a:r>
              <a:rPr lang="en-IN" b="1" dirty="0"/>
              <a:t>Scalable:</a:t>
            </a:r>
            <a:r>
              <a:rPr lang="en-IN" dirty="0"/>
              <a:t> Agents/services can be extended independently</a:t>
            </a:r>
          </a:p>
          <a:p>
            <a:pPr lvl="0"/>
            <a:r>
              <a:rPr lang="en-IN" b="1" dirty="0"/>
              <a:t>Data:</a:t>
            </a:r>
            <a:r>
              <a:rPr lang="en-IN" dirty="0"/>
              <a:t> Historical data can support resource planning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IN" b="1" dirty="0"/>
              <a:t>Project Plan</a:t>
            </a:r>
          </a:p>
          <a:p>
            <a:r>
              <a:rPr lang="en-IN" b="1" dirty="0"/>
              <a:t>Phase 1 – Requirement Analysis</a:t>
            </a:r>
            <a:br>
              <a:rPr lang="en-IN" dirty="0"/>
            </a:br>
            <a:r>
              <a:rPr lang="en-IN" dirty="0"/>
              <a:t>Identify hospital resources, workflows, constraints, and emergency scenarios.</a:t>
            </a:r>
          </a:p>
          <a:p>
            <a:r>
              <a:rPr lang="en-IN" b="1" dirty="0"/>
              <a:t>Phase 2 – System Design</a:t>
            </a:r>
            <a:br>
              <a:rPr lang="en-IN" dirty="0"/>
            </a:br>
            <a:r>
              <a:rPr lang="en-IN" dirty="0" err="1"/>
              <a:t>Design</a:t>
            </a:r>
            <a:r>
              <a:rPr lang="en-IN" dirty="0"/>
              <a:t> the multi-agent architecture and microservice structure.</a:t>
            </a:r>
          </a:p>
          <a:p>
            <a:r>
              <a:rPr lang="en-IN" b="1" dirty="0"/>
              <a:t>Phase 3 – Agent Development</a:t>
            </a:r>
            <a:br>
              <a:rPr lang="en-IN" dirty="0"/>
            </a:br>
            <a:r>
              <a:rPr lang="en-IN" dirty="0"/>
              <a:t>Develop agents for patient management, beds, staff, emergency response, diagnostics, equipment, and operating rooms.</a:t>
            </a:r>
          </a:p>
          <a:p>
            <a:r>
              <a:rPr lang="en-IN" b="1" dirty="0"/>
              <a:t>Phase 4 – Agent Communication &amp; Coordination</a:t>
            </a:r>
            <a:br>
              <a:rPr lang="en-IN" dirty="0"/>
            </a:br>
            <a:r>
              <a:rPr lang="en-IN" dirty="0"/>
              <a:t>Implement communication and collaborative resource-allocation mechanisms.</a:t>
            </a:r>
          </a:p>
          <a:p>
            <a:r>
              <a:rPr lang="en-IN" b="1" dirty="0"/>
              <a:t>Phase 5 – Dashboard Development</a:t>
            </a:r>
            <a:br>
              <a:rPr lang="en-IN" dirty="0"/>
            </a:br>
            <a:r>
              <a:rPr lang="en-IN" dirty="0"/>
              <a:t>Develop a real-time dashboard for monitoring hospital resources and allocation decisions.</a:t>
            </a:r>
          </a:p>
          <a:p>
            <a:r>
              <a:rPr lang="en-IN" b="1" dirty="0"/>
              <a:t>Phase 6 – Testing &amp; Evaluation</a:t>
            </a:r>
            <a:br>
              <a:rPr lang="en-IN" dirty="0"/>
            </a:br>
            <a:r>
              <a:rPr lang="en-IN" dirty="0"/>
              <a:t>Test normal and emergency scenarios and evaluate resource allocation, response time, and system performance.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902</Words>
  <Application>Microsoft Office PowerPoint</Application>
  <PresentationFormat>Widescreen</PresentationFormat>
  <Paragraphs>113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 Siddhartha</cp:lastModifiedBy>
  <cp:revision>31</cp:revision>
  <dcterms:created xsi:type="dcterms:W3CDTF">2026-08-08T06:33:56Z</dcterms:created>
  <dcterms:modified xsi:type="dcterms:W3CDTF">2026-08-18T05:26:12Z</dcterms:modified>
</cp:coreProperties>
</file>